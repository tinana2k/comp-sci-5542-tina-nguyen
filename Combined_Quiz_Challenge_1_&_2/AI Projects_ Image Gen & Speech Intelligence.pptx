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6858000" cx="12192000"/>
  <p:notesSz cx="6858000" cy="9144000"/>
  <p:embeddedFontLst>
    <p:embeddedFont>
      <p:font typeface="Roboto"/>
      <p:regular r:id="rId19"/>
      <p:bold r:id="rId20"/>
      <p:italic r:id="rId21"/>
      <p:boldItalic r:id="rId22"/>
    </p:embeddedFont>
    <p:embeddedFont>
      <p:font typeface="Urbanist"/>
      <p:regular r:id="rId23"/>
      <p:bold r:id="rId24"/>
      <p:italic r:id="rId25"/>
      <p:boldItalic r:id="rId26"/>
    </p:embeddedFont>
    <p:embeddedFont>
      <p:font typeface="JetBrains Mono"/>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8DE056D-B71A-4890-995C-4B912CB7E39D}">
  <a:tblStyle styleId="{88DE056D-B71A-4890-995C-4B912CB7E39D}"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Urbanist-bold.fntdata"/><Relationship Id="rId23" Type="http://schemas.openxmlformats.org/officeDocument/2006/relationships/font" Target="fonts/Urbanis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Urbanist-boldItalic.fntdata"/><Relationship Id="rId25" Type="http://schemas.openxmlformats.org/officeDocument/2006/relationships/font" Target="fonts/Urbanist-italic.fntdata"/><Relationship Id="rId28" Type="http://schemas.openxmlformats.org/officeDocument/2006/relationships/font" Target="fonts/JetBrainsMono-bold.fntdata"/><Relationship Id="rId27" Type="http://schemas.openxmlformats.org/officeDocument/2006/relationships/font" Target="fonts/JetBrainsMon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JetBrainsMono-italic.fntdata"/><Relationship Id="rId7" Type="http://schemas.openxmlformats.org/officeDocument/2006/relationships/slide" Target="slides/slide1.xml"/><Relationship Id="rId8" Type="http://schemas.openxmlformats.org/officeDocument/2006/relationships/slide" Target="slides/slide2.xml"/><Relationship Id="rId30" Type="http://schemas.openxmlformats.org/officeDocument/2006/relationships/font" Target="fonts/JetBrainsMono-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font" Target="fonts/Roboto-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presentation/d/1-YRa6GbHkHyjs5wMdkQjQ5FHM4pntjh6P07aJiQR3Dk/edi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US" sz="1200">
                <a:solidFill>
                  <a:schemeClr val="dk1"/>
                </a:solidFill>
              </a:rPr>
              <a:t>"Hello everyone, my name is Tina Nguyen. Today I’ll be presenting my work for CS 5542, covering both Quiz Challenge 1 and Quiz Challenge 2.</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US" sz="1200">
                <a:solidFill>
                  <a:schemeClr val="dk1"/>
                </a:solidFill>
              </a:rPr>
              <a:t>These projects explore two very different but equally exciting areas of AI: generative computer vision for e-commerce, and multimodal speech intelligence. Let's start with the visual side."</a:t>
            </a:r>
            <a:endParaRPr sz="1200">
              <a:solidFill>
                <a:schemeClr val="dk1"/>
              </a:solidFill>
            </a:endParaRPr>
          </a:p>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US" sz="1200">
                <a:solidFill>
                  <a:schemeClr val="dk1"/>
                </a:solidFill>
              </a:rPr>
              <a:t>"For Quiz 1, I focused on 'Controlled E-Commerce Product Image Generation.'</a:t>
            </a:r>
            <a:endParaRPr sz="1200">
              <a:solidFill>
                <a:schemeClr val="dk1"/>
              </a:solidFill>
            </a:endParaRPr>
          </a:p>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US" sz="1200">
                <a:solidFill>
                  <a:schemeClr val="dk1"/>
                </a:solidFill>
              </a:rPr>
              <a:t>In the e-commerce industry, high-quality product photography is expensive. Generative AI models like Stable Diffusion are powerful but highly unpredictable. If you just ask for a 'coffee mug,' you might get a great image, but it won’t match the uniform, professional studio style needed for a catalog.</a:t>
            </a:r>
            <a:endParaRPr sz="1200">
              <a:solidFill>
                <a:schemeClr val="dk1"/>
              </a:solidFill>
            </a:endParaRPr>
          </a:p>
          <a:p>
            <a:pPr indent="0" lvl="0" marL="0" rtl="0" algn="l">
              <a:spcBef>
                <a:spcPts val="0"/>
              </a:spcBef>
              <a:spcAft>
                <a:spcPts val="0"/>
              </a:spcAft>
              <a:buNone/>
            </a:pPr>
            <a:r>
              <a:t/>
            </a:r>
            <a:endParaRPr/>
          </a:p>
        </p:txBody>
      </p:sp>
      <p:sp>
        <p:nvSpPr>
          <p:cNvPr id="99" name="Google Shape;9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US" sz="1200">
                <a:solidFill>
                  <a:schemeClr val="dk1"/>
                </a:solidFill>
              </a:rPr>
              <a:t>To solve this, I designed an experiment to compare two approaches: Naive Prompting versus Structured Prompt Engineering. I built a pipeline that reads product metadata—like category, color, material, and style—and injects it into a strict template. This forces the AI to use specific studio lighting and a solid white background.</a:t>
            </a:r>
            <a:endParaRPr sz="1200">
              <a:solidFill>
                <a:schemeClr val="dk1"/>
              </a:solidFill>
            </a:endParaRPr>
          </a:p>
          <a:p>
            <a:pPr indent="0" lvl="0" marL="0" rtl="0" algn="l">
              <a:spcBef>
                <a:spcPts val="0"/>
              </a:spcBef>
              <a:spcAft>
                <a:spcPts val="0"/>
              </a:spcAft>
              <a:buNone/>
            </a:pPr>
            <a:r>
              <a:t/>
            </a:r>
            <a:endParaRPr/>
          </a:p>
        </p:txBody>
      </p:sp>
      <p:sp>
        <p:nvSpPr>
          <p:cNvPr id="115" name="Google Shape;11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1200">
                <a:solidFill>
                  <a:schemeClr val="dk1"/>
                </a:solidFill>
              </a:rPr>
              <a:t>To scientifically test consistency, I generated images for 10 diverse products across 3 deterministic seeds. I evaluated the results programmatically using CLIP score for text-alignment and SSIM for visual consistency.</a:t>
            </a:r>
            <a:endParaRPr sz="1200">
              <a:solidFill>
                <a:schemeClr val="dk1"/>
              </a:solidFill>
            </a:endParaRPr>
          </a:p>
          <a:p>
            <a:pPr indent="0" lvl="0" marL="0" rtl="0" algn="l">
              <a:lnSpc>
                <a:spcPct val="150000"/>
              </a:lnSpc>
              <a:spcBef>
                <a:spcPts val="0"/>
              </a:spcBef>
              <a:spcAft>
                <a:spcPts val="0"/>
              </a:spcAft>
              <a:buNone/>
            </a:pPr>
            <a:r>
              <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US" sz="1200">
                <a:solidFill>
                  <a:schemeClr val="dk1"/>
                </a:solidFill>
              </a:rPr>
              <a:t>The findings were fantastic: While the text-alignment stayed strong in both, the structured prompting increased visual consistency by nearly 23%! It worked exceptionally well for solid objects like mugs and smart speakers, proving that structured prompting creates the reliable uniformity needed for digital storefronts."</a:t>
            </a:r>
            <a:endParaRPr sz="1200">
              <a:solidFill>
                <a:schemeClr val="dk1"/>
              </a:solidFill>
            </a:endParaRPr>
          </a:p>
          <a:p>
            <a:pPr indent="0" lvl="0" marL="0" rtl="0" algn="l">
              <a:spcBef>
                <a:spcPts val="0"/>
              </a:spcBef>
              <a:spcAft>
                <a:spcPts val="0"/>
              </a:spcAft>
              <a:buNone/>
            </a:pPr>
            <a:r>
              <a:t/>
            </a:r>
            <a:endParaRPr/>
          </a:p>
        </p:txBody>
      </p:sp>
      <p:sp>
        <p:nvSpPr>
          <p:cNvPr id="136" name="Google Shape;13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US" sz="1200">
                <a:solidFill>
                  <a:schemeClr val="dk1"/>
                </a:solidFill>
              </a:rPr>
              <a:t>"Now, shifting gears from vision to audio, let’s talk about Quiz 2, where I built an automated AI Speech Intelligence Pipeline."</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US" sz="1200">
                <a:solidFill>
                  <a:schemeClr val="dk1"/>
                </a:solidFill>
              </a:rPr>
              <a:t>"For this second challenge, the goal was to process a 32-second technical lecture audio file and extract meaningful insights.</a:t>
            </a:r>
            <a:endParaRPr sz="1200">
              <a:solidFill>
                <a:schemeClr val="dk1"/>
              </a:solidFill>
            </a:endParaRPr>
          </a:p>
          <a:p>
            <a:pPr indent="0" lvl="0" marL="0" rtl="0" algn="l">
              <a:spcBef>
                <a:spcPts val="0"/>
              </a:spcBef>
              <a:spcAft>
                <a:spcPts val="0"/>
              </a:spcAft>
              <a:buNone/>
            </a:pPr>
            <a:r>
              <a:t/>
            </a:r>
            <a:endParaRPr/>
          </a:p>
        </p:txBody>
      </p:sp>
      <p:sp>
        <p:nvSpPr>
          <p:cNvPr id="148" name="Google Shape;14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US" sz="1200">
                <a:solidFill>
                  <a:schemeClr val="dk1"/>
                </a:solidFill>
              </a:rPr>
              <a:t>I built a completely autonomous pipeline that chains together 7 different HuggingFace models. </a:t>
            </a:r>
            <a:endParaRPr/>
          </a:p>
        </p:txBody>
      </p:sp>
      <p:sp>
        <p:nvSpPr>
          <p:cNvPr id="156" name="Google Shape;15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US" sz="1200">
                <a:solidFill>
                  <a:schemeClr val="dk1"/>
                </a:solidFill>
              </a:rPr>
              <a:t>First, it uses Whisper to transcribe the audio. Then, BART summarizes the text, and DistilBERT runs sentiment analysis to flag any negative sentences. Finally, MarianMT translates the summary into Spanish, and SpeechT5 synthesizes it back into audio narration.</a:t>
            </a:r>
            <a:endParaRPr sz="1200">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175" name="Google Shape;17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The main challenge in the pipeline was transcription accuracy, so we focused on optimizing the Word Error Rate, or WER. We achieved a massive 61% reduction in transcription errors simply by using a strategic, domain-aware initial prompt when calling Whisper. Crucially, this improvement was achieved without requiring any model retraining or increasing the compute latency of the pipeline.</a:t>
            </a:r>
            <a:endParaRPr>
              <a:solidFill>
                <a:schemeClr val="dk1"/>
              </a:solidFill>
            </a:endParaRPr>
          </a:p>
          <a:p>
            <a:pPr indent="0" lvl="0" marL="0" rtl="0" algn="l">
              <a:spcBef>
                <a:spcPts val="0"/>
              </a:spcBef>
              <a:spcAft>
                <a:spcPts val="0"/>
              </a:spcAft>
              <a:buNone/>
            </a:pPr>
            <a:r>
              <a:t/>
            </a:r>
            <a:endParaRPr/>
          </a:p>
        </p:txBody>
      </p:sp>
      <p:sp>
        <p:nvSpPr>
          <p:cNvPr id="198" name="Google Shape;19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The extra credit challenge involved successfully closing the multimodal loop. We took the summarized and processed insights and synthesized them back into high-quality speech using SpeechT5. The final output wasn't just raw text; it was structured, actionable JSON containing regex-parsed action items and the synthesized Spanish translation.</a:t>
            </a:r>
            <a:r>
              <a:rPr lang="en-US" sz="700">
                <a:solidFill>
                  <a:srgbClr val="1F1F1F"/>
                </a:solidFill>
                <a:highlight>
                  <a:srgbClr val="F0F4F9"/>
                </a:highlight>
                <a:uFill>
                  <a:noFill/>
                </a:uFill>
                <a:latin typeface="Roboto"/>
                <a:ea typeface="Roboto"/>
                <a:cs typeface="Roboto"/>
                <a:sym typeface="Roboto"/>
                <a:hlinkClick r:id="rId2">
                  <a:extLst>
                    <a:ext uri="{A12FA001-AC4F-418D-AE19-62706E023703}">
                      <ahyp:hlinkClr val="tx"/>
                    </a:ext>
                  </a:extLst>
                </a:hlinkClick>
              </a:rPr>
              <a:t>1</a:t>
            </a:r>
            <a:endParaRPr sz="700">
              <a:solidFill>
                <a:srgbClr val="1F1F1F"/>
              </a:solidFill>
              <a:highlight>
                <a:srgbClr val="F0F4F9"/>
              </a:highlight>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t/>
            </a:r>
            <a:endParaRPr/>
          </a:p>
        </p:txBody>
      </p:sp>
      <p:sp>
        <p:nvSpPr>
          <p:cNvPr id="210" name="Google Shape;21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050">
                <a:solidFill>
                  <a:srgbClr val="1F1F1F"/>
                </a:solidFill>
                <a:highlight>
                  <a:srgbClr val="FFFFFF"/>
                </a:highlight>
                <a:latin typeface="Roboto"/>
                <a:ea typeface="Roboto"/>
                <a:cs typeface="Roboto"/>
                <a:sym typeface="Roboto"/>
              </a:rPr>
              <a:t>To wrap up, there are three strategic takeaways from both challenges. First, Strategic Prompting is Paramount: whether we're using Stable Diffusion for image generation or Whisper for audio, structured prompts are the primary driver of reliability. Second is the Power of Orchestration: successfully chaining modular AI components, such as the seven models in Quiz 2, enables end-to-end autonomous processing for complex, human-centric tasks. Finally, our success was confirmed through Data-Driven Reproducibility, validated using rigorous metrics like SSIM, CLIP, and Word Error Rate</a:t>
            </a:r>
            <a:endParaRPr/>
          </a:p>
        </p:txBody>
      </p:sp>
      <p:sp>
        <p:nvSpPr>
          <p:cNvPr id="226" name="Google Shape;22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US" sz="1200">
                <a:solidFill>
                  <a:schemeClr val="dk1"/>
                </a:solidFill>
              </a:rPr>
              <a:t>"In conclusion, whether we are controlling the visual consistency of Stable Diffusion or chaining language models for speech intelligence, both projects highlight how strategic prompting and pipeline design can vastly improve AI reliability.</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t/>
            </a:r>
            <a:endParaRPr sz="1200">
              <a:solidFill>
                <a:schemeClr val="dk1"/>
              </a:solidFill>
            </a:endParaRPr>
          </a:p>
          <a:p>
            <a:pPr indent="0" lvl="0" marL="0" rtl="0" algn="l">
              <a:lnSpc>
                <a:spcPct val="150000"/>
              </a:lnSpc>
              <a:spcBef>
                <a:spcPts val="0"/>
              </a:spcBef>
              <a:spcAft>
                <a:spcPts val="0"/>
              </a:spcAft>
              <a:buClr>
                <a:schemeClr val="dk1"/>
              </a:buClr>
              <a:buSzPts val="1100"/>
              <a:buFont typeface="Arial"/>
              <a:buNone/>
            </a:pPr>
            <a:r>
              <a:rPr lang="en-US" sz="1200">
                <a:solidFill>
                  <a:schemeClr val="dk1"/>
                </a:solidFill>
              </a:rPr>
              <a:t>Thank you so much for your time, and I’d be happy to answer any questions!"</a:t>
            </a:r>
            <a:endParaRPr sz="1200">
              <a:solidFill>
                <a:schemeClr val="dk1"/>
              </a:solidFill>
            </a:endParaRPr>
          </a:p>
          <a:p>
            <a:pPr indent="0" lvl="0" marL="0" rtl="0" algn="l">
              <a:spcBef>
                <a:spcPts val="0"/>
              </a:spcBef>
              <a:spcAft>
                <a:spcPts val="0"/>
              </a:spcAft>
              <a:buNone/>
            </a:pPr>
            <a:r>
              <a:t/>
            </a:r>
            <a:endParaRPr/>
          </a:p>
        </p:txBody>
      </p:sp>
      <p:sp>
        <p:nvSpPr>
          <p:cNvPr id="239" name="Google Shape;23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2.png"/><Relationship Id="rId5" Type="http://schemas.openxmlformats.org/officeDocument/2006/relationships/image" Target="../media/image2.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13.png"/><Relationship Id="rId5" Type="http://schemas.openxmlformats.org/officeDocument/2006/relationships/image" Target="../media/image6.png"/><Relationship Id="rId6" Type="http://schemas.openxmlformats.org/officeDocument/2006/relationships/image" Target="../media/image10.png"/><Relationship Id="rId7" Type="http://schemas.openxmlformats.org/officeDocument/2006/relationships/image" Target="../media/image4.png"/><Relationship Id="rId8"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16.png"/><Relationship Id="rId6"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8.png"/><Relationship Id="rId5" Type="http://schemas.openxmlformats.org/officeDocument/2006/relationships/image" Target="../media/image17.png"/><Relationship Id="rId6"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571500" y="571500"/>
            <a:ext cx="11049000" cy="3231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2100" u="none" cap="none" strike="noStrike">
                <a:solidFill>
                  <a:srgbClr val="00F2FF"/>
                </a:solidFill>
                <a:latin typeface="JetBrains Mono"/>
                <a:ea typeface="JetBrains Mono"/>
                <a:cs typeface="JetBrains Mono"/>
                <a:sym typeface="JetBrains Mono"/>
              </a:rPr>
              <a:t>CS 5542</a:t>
            </a:r>
            <a:endParaRPr/>
          </a:p>
        </p:txBody>
      </p:sp>
      <p:sp>
        <p:nvSpPr>
          <p:cNvPr id="86" name="Google Shape;86;p13"/>
          <p:cNvSpPr txBox="1"/>
          <p:nvPr/>
        </p:nvSpPr>
        <p:spPr>
          <a:xfrm>
            <a:off x="295275" y="1066800"/>
            <a:ext cx="11601450" cy="1508521"/>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5400" u="none" cap="none" strike="noStrike">
                <a:solidFill>
                  <a:srgbClr val="FFFFFF"/>
                </a:solidFill>
                <a:latin typeface="Urbanist"/>
                <a:ea typeface="Urbanist"/>
                <a:cs typeface="Urbanist"/>
                <a:sym typeface="Urbanist"/>
              </a:rPr>
              <a:t>Controlled </a:t>
            </a:r>
            <a:r>
              <a:rPr b="1" i="0" lang="en-US" sz="5400" u="none" cap="none" strike="noStrike">
                <a:solidFill>
                  <a:srgbClr val="00F2FF"/>
                </a:solidFill>
                <a:latin typeface="Urbanist"/>
                <a:ea typeface="Urbanist"/>
                <a:cs typeface="Urbanist"/>
                <a:sym typeface="Urbanist"/>
              </a:rPr>
              <a:t>Image Generation</a:t>
            </a:r>
            <a:r>
              <a:rPr b="1" i="0" lang="en-US" sz="5400" u="none" cap="none" strike="noStrike">
                <a:solidFill>
                  <a:srgbClr val="FFFFFF"/>
                </a:solidFill>
                <a:latin typeface="Urbanist"/>
                <a:ea typeface="Urbanist"/>
                <a:cs typeface="Urbanist"/>
                <a:sym typeface="Urbanist"/>
              </a:rPr>
              <a:t> &amp; </a:t>
            </a:r>
            <a:br>
              <a:rPr b="0" i="0" lang="en-US" sz="1800" u="none" cap="none" strike="noStrike">
                <a:solidFill>
                  <a:schemeClr val="dk1"/>
                </a:solidFill>
                <a:latin typeface="Calibri"/>
                <a:ea typeface="Calibri"/>
                <a:cs typeface="Calibri"/>
                <a:sym typeface="Calibri"/>
              </a:rPr>
            </a:br>
            <a:r>
              <a:rPr b="1" i="0" lang="en-US" sz="5400" u="none" cap="none" strike="noStrike">
                <a:solidFill>
                  <a:srgbClr val="FFFFFF"/>
                </a:solidFill>
                <a:latin typeface="Urbanist"/>
                <a:ea typeface="Urbanist"/>
                <a:cs typeface="Urbanist"/>
                <a:sym typeface="Urbanist"/>
              </a:rPr>
              <a:t> Speech Intelligence</a:t>
            </a:r>
            <a:endParaRPr/>
          </a:p>
        </p:txBody>
      </p:sp>
      <p:sp>
        <p:nvSpPr>
          <p:cNvPr id="87" name="Google Shape;87;p13"/>
          <p:cNvSpPr/>
          <p:nvPr/>
        </p:nvSpPr>
        <p:spPr>
          <a:xfrm>
            <a:off x="5619750" y="2861071"/>
            <a:ext cx="952500" cy="19050"/>
          </a:xfrm>
          <a:prstGeom prst="rect">
            <a:avLst/>
          </a:prstGeom>
          <a:solidFill>
            <a:srgbClr val="A2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 name="Google Shape;88;p13"/>
          <p:cNvSpPr txBox="1"/>
          <p:nvPr/>
        </p:nvSpPr>
        <p:spPr>
          <a:xfrm>
            <a:off x="571500" y="3165871"/>
            <a:ext cx="11049000" cy="3429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800" u="none" cap="none" strike="noStrike">
                <a:solidFill>
                  <a:srgbClr val="FFFFFF"/>
                </a:solidFill>
                <a:latin typeface="Urbanist"/>
                <a:ea typeface="Urbanist"/>
                <a:cs typeface="Urbanist"/>
                <a:sym typeface="Urbanist"/>
              </a:rPr>
              <a:t>Presented by: </a:t>
            </a:r>
            <a:r>
              <a:rPr b="1" i="0" lang="en-US" sz="1800" u="none" cap="none" strike="noStrike">
                <a:solidFill>
                  <a:srgbClr val="00F2FF"/>
                </a:solidFill>
                <a:latin typeface="Urbanist"/>
                <a:ea typeface="Urbanist"/>
                <a:cs typeface="Urbanist"/>
                <a:sym typeface="Urbanist"/>
              </a:rPr>
              <a:t>Tina Nguyen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E14"/>
        </a:solidFill>
      </p:bgPr>
    </p:bg>
    <p:spTree>
      <p:nvGrpSpPr>
        <p:cNvPr id="92" name="Shape 92"/>
        <p:cNvGrpSpPr/>
        <p:nvPr/>
      </p:nvGrpSpPr>
      <p:grpSpPr>
        <a:xfrm>
          <a:off x="0" y="0"/>
          <a:ext cx="0" cy="0"/>
          <a:chOff x="0" y="0"/>
          <a:chExt cx="0" cy="0"/>
        </a:xfrm>
      </p:grpSpPr>
      <p:pic>
        <p:nvPicPr>
          <p:cNvPr descr="image.png" id="93" name="Google Shape;93;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4" name="Google Shape;94;p14"/>
          <p:cNvSpPr txBox="1"/>
          <p:nvPr/>
        </p:nvSpPr>
        <p:spPr>
          <a:xfrm>
            <a:off x="571500" y="571500"/>
            <a:ext cx="11049000" cy="31432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650" u="none" cap="none" strike="noStrike">
                <a:solidFill>
                  <a:srgbClr val="BDC3C7"/>
                </a:solidFill>
                <a:latin typeface="Urbanist"/>
                <a:ea typeface="Urbanist"/>
                <a:cs typeface="Urbanist"/>
                <a:sym typeface="Urbanist"/>
              </a:rPr>
              <a:t>QUIZ 1</a:t>
            </a:r>
            <a:endParaRPr/>
          </a:p>
        </p:txBody>
      </p:sp>
      <p:sp>
        <p:nvSpPr>
          <p:cNvPr id="95" name="Google Shape;95;p14"/>
          <p:cNvSpPr/>
          <p:nvPr/>
        </p:nvSpPr>
        <p:spPr>
          <a:xfrm>
            <a:off x="5524500" y="1171575"/>
            <a:ext cx="1143000" cy="38100"/>
          </a:xfrm>
          <a:prstGeom prst="rect">
            <a:avLst/>
          </a:prstGeom>
          <a:solidFill>
            <a:srgbClr val="A2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 name="Google Shape;96;p14"/>
          <p:cNvSpPr txBox="1"/>
          <p:nvPr/>
        </p:nvSpPr>
        <p:spPr>
          <a:xfrm>
            <a:off x="295275" y="1495425"/>
            <a:ext cx="11601450" cy="1466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FFFFFF"/>
                </a:solidFill>
                <a:latin typeface="Urbanist"/>
                <a:ea typeface="Urbanist"/>
                <a:cs typeface="Urbanist"/>
                <a:sym typeface="Urbanist"/>
              </a:rPr>
              <a:t>Controlled E-Commerce</a:t>
            </a:r>
            <a:br>
              <a:rPr b="0" i="0" lang="en-US" sz="1800" u="none" cap="none" strike="noStrike">
                <a:solidFill>
                  <a:schemeClr val="dk1"/>
                </a:solidFill>
                <a:latin typeface="Calibri"/>
                <a:ea typeface="Calibri"/>
                <a:cs typeface="Calibri"/>
                <a:sym typeface="Calibri"/>
              </a:rPr>
            </a:br>
            <a:r>
              <a:rPr b="1" i="0" lang="en-US" sz="4800" u="none" cap="none" strike="noStrike">
                <a:solidFill>
                  <a:srgbClr val="FFFFFF"/>
                </a:solidFill>
                <a:latin typeface="Urbanist"/>
                <a:ea typeface="Urbanist"/>
                <a:cs typeface="Urbanist"/>
                <a:sym typeface="Urbanist"/>
              </a:rPr>
              <a:t> Image Generation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E14"/>
        </a:solidFill>
      </p:bgPr>
    </p:bg>
    <p:spTree>
      <p:nvGrpSpPr>
        <p:cNvPr id="100" name="Shape 100"/>
        <p:cNvGrpSpPr/>
        <p:nvPr/>
      </p:nvGrpSpPr>
      <p:grpSpPr>
        <a:xfrm>
          <a:off x="0" y="0"/>
          <a:ext cx="0" cy="0"/>
          <a:chOff x="0" y="0"/>
          <a:chExt cx="0" cy="0"/>
        </a:xfrm>
      </p:grpSpPr>
      <p:pic>
        <p:nvPicPr>
          <p:cNvPr descr="image.png" id="101" name="Google Shape;101;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2" name="Google Shape;102;p15"/>
          <p:cNvPicPr preferRelativeResize="0"/>
          <p:nvPr/>
        </p:nvPicPr>
        <p:blipFill rotWithShape="1">
          <a:blip r:embed="rId4">
            <a:alphaModFix/>
          </a:blip>
          <a:srcRect b="0" l="0" r="0" t="0"/>
          <a:stretch/>
        </p:blipFill>
        <p:spPr>
          <a:xfrm>
            <a:off x="571500" y="4305300"/>
            <a:ext cx="11049000" cy="1781175"/>
          </a:xfrm>
          <a:prstGeom prst="rect">
            <a:avLst/>
          </a:prstGeom>
          <a:noFill/>
          <a:ln>
            <a:noFill/>
          </a:ln>
        </p:spPr>
      </p:pic>
      <p:pic>
        <p:nvPicPr>
          <p:cNvPr descr="image.png" id="103" name="Google Shape;103;p15"/>
          <p:cNvPicPr preferRelativeResize="0"/>
          <p:nvPr/>
        </p:nvPicPr>
        <p:blipFill rotWithShape="1">
          <a:blip r:embed="rId5">
            <a:alphaModFix/>
          </a:blip>
          <a:srcRect b="0" l="0" r="0" t="0"/>
          <a:stretch/>
        </p:blipFill>
        <p:spPr>
          <a:xfrm>
            <a:off x="571500" y="1609725"/>
            <a:ext cx="5334000" cy="2409825"/>
          </a:xfrm>
          <a:prstGeom prst="rect">
            <a:avLst/>
          </a:prstGeom>
          <a:noFill/>
          <a:ln>
            <a:noFill/>
          </a:ln>
        </p:spPr>
      </p:pic>
      <p:pic>
        <p:nvPicPr>
          <p:cNvPr descr="image.png" id="104" name="Google Shape;104;p15"/>
          <p:cNvPicPr preferRelativeResize="0"/>
          <p:nvPr/>
        </p:nvPicPr>
        <p:blipFill rotWithShape="1">
          <a:blip r:embed="rId6">
            <a:alphaModFix/>
          </a:blip>
          <a:srcRect b="0" l="0" r="0" t="0"/>
          <a:stretch/>
        </p:blipFill>
        <p:spPr>
          <a:xfrm>
            <a:off x="6286500" y="1609725"/>
            <a:ext cx="5334000" cy="2409825"/>
          </a:xfrm>
          <a:prstGeom prst="rect">
            <a:avLst/>
          </a:prstGeom>
          <a:noFill/>
          <a:ln>
            <a:noFill/>
          </a:ln>
        </p:spPr>
      </p:pic>
      <p:sp>
        <p:nvSpPr>
          <p:cNvPr id="105" name="Google Shape;105;p15"/>
          <p:cNvSpPr txBox="1"/>
          <p:nvPr/>
        </p:nvSpPr>
        <p:spPr>
          <a:xfrm>
            <a:off x="914400" y="4648200"/>
            <a:ext cx="1088136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F2FF"/>
                </a:solidFill>
                <a:latin typeface="Urbanist"/>
                <a:ea typeface="Urbanist"/>
                <a:cs typeface="Urbanist"/>
                <a:sym typeface="Urbanist"/>
              </a:rPr>
              <a:t>The Strategic Goal</a:t>
            </a:r>
            <a:endParaRPr/>
          </a:p>
        </p:txBody>
      </p:sp>
      <p:sp>
        <p:nvSpPr>
          <p:cNvPr id="106" name="Google Shape;106;p15"/>
          <p:cNvSpPr txBox="1"/>
          <p:nvPr/>
        </p:nvSpPr>
        <p:spPr>
          <a:xfrm>
            <a:off x="914400" y="5114925"/>
            <a:ext cx="10363200" cy="6286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BDC3C7"/>
                </a:solidFill>
                <a:latin typeface="Urbanist"/>
                <a:ea typeface="Urbanist"/>
                <a:cs typeface="Urbanist"/>
                <a:sym typeface="Urbanist"/>
              </a:rPr>
              <a:t>To enforce </a:t>
            </a:r>
            <a:r>
              <a:rPr b="1" i="0" lang="en-US" sz="1650" u="none" cap="none" strike="noStrike">
                <a:solidFill>
                  <a:srgbClr val="00F2FF"/>
                </a:solidFill>
                <a:latin typeface="Urbanist"/>
                <a:ea typeface="Urbanist"/>
                <a:cs typeface="Urbanist"/>
                <a:sym typeface="Urbanist"/>
              </a:rPr>
              <a:t>strict visual consistency</a:t>
            </a:r>
            <a:r>
              <a:rPr b="0" i="0" lang="en-US" sz="1650" u="none" cap="none" strike="noStrike">
                <a:solidFill>
                  <a:srgbClr val="BDC3C7"/>
                </a:solidFill>
                <a:latin typeface="Urbanist"/>
                <a:ea typeface="Urbanist"/>
                <a:cs typeface="Urbanist"/>
                <a:sym typeface="Urbanist"/>
              </a:rPr>
              <a:t> (lighting, background, and perspective) across a diverse and high-volume product catalog using deterministic evaluation.</a:t>
            </a:r>
            <a:endParaRPr/>
          </a:p>
        </p:txBody>
      </p:sp>
      <p:sp>
        <p:nvSpPr>
          <p:cNvPr id="107" name="Google Shape;107;p15"/>
          <p:cNvSpPr txBox="1"/>
          <p:nvPr/>
        </p:nvSpPr>
        <p:spPr>
          <a:xfrm>
            <a:off x="914400" y="1952625"/>
            <a:ext cx="488061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F2FF"/>
                </a:solidFill>
                <a:latin typeface="Urbanist"/>
                <a:ea typeface="Urbanist"/>
                <a:cs typeface="Urbanist"/>
                <a:sym typeface="Urbanist"/>
              </a:rPr>
              <a:t>The Challenge</a:t>
            </a:r>
            <a:endParaRPr/>
          </a:p>
        </p:txBody>
      </p:sp>
      <p:sp>
        <p:nvSpPr>
          <p:cNvPr id="108" name="Google Shape;108;p15"/>
          <p:cNvSpPr txBox="1"/>
          <p:nvPr/>
        </p:nvSpPr>
        <p:spPr>
          <a:xfrm>
            <a:off x="914400" y="2419350"/>
            <a:ext cx="4648200" cy="12573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BDC3C7"/>
                </a:solidFill>
                <a:latin typeface="Urbanist"/>
                <a:ea typeface="Urbanist"/>
                <a:cs typeface="Urbanist"/>
                <a:sym typeface="Urbanist"/>
              </a:rPr>
              <a:t>E-commerce product photography is </a:t>
            </a:r>
            <a:r>
              <a:rPr b="1" i="0" lang="en-US" sz="1650" u="none" cap="none" strike="noStrike">
                <a:solidFill>
                  <a:srgbClr val="00F2FF"/>
                </a:solidFill>
                <a:latin typeface="Urbanist"/>
                <a:ea typeface="Urbanist"/>
                <a:cs typeface="Urbanist"/>
                <a:sym typeface="Urbanist"/>
              </a:rPr>
              <a:t>prohibitively expensive</a:t>
            </a:r>
            <a:r>
              <a:rPr b="0" i="0" lang="en-US" sz="1650" u="none" cap="none" strike="noStrike">
                <a:solidFill>
                  <a:srgbClr val="BDC3C7"/>
                </a:solidFill>
                <a:latin typeface="Urbanist"/>
                <a:ea typeface="Urbanist"/>
                <a:cs typeface="Urbanist"/>
                <a:sym typeface="Urbanist"/>
              </a:rPr>
              <a:t>. While generative AI (SDXL) offers a solution, it is notoriously unpredictable in styling and structural consistency.</a:t>
            </a:r>
            <a:endParaRPr/>
          </a:p>
        </p:txBody>
      </p:sp>
      <p:sp>
        <p:nvSpPr>
          <p:cNvPr id="109" name="Google Shape;109;p15"/>
          <p:cNvSpPr txBox="1"/>
          <p:nvPr/>
        </p:nvSpPr>
        <p:spPr>
          <a:xfrm>
            <a:off x="6629400" y="1952625"/>
            <a:ext cx="488061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0F2FF"/>
                </a:solidFill>
                <a:latin typeface="Urbanist"/>
                <a:ea typeface="Urbanist"/>
                <a:cs typeface="Urbanist"/>
                <a:sym typeface="Urbanist"/>
              </a:rPr>
              <a:t>Our Methodology</a:t>
            </a:r>
            <a:endParaRPr/>
          </a:p>
        </p:txBody>
      </p:sp>
      <p:sp>
        <p:nvSpPr>
          <p:cNvPr id="110" name="Google Shape;110;p15"/>
          <p:cNvSpPr txBox="1"/>
          <p:nvPr/>
        </p:nvSpPr>
        <p:spPr>
          <a:xfrm>
            <a:off x="6629400" y="2419350"/>
            <a:ext cx="4648200" cy="9429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BDC3C7"/>
                </a:solidFill>
                <a:latin typeface="Urbanist"/>
                <a:ea typeface="Urbanist"/>
                <a:cs typeface="Urbanist"/>
                <a:sym typeface="Urbanist"/>
              </a:rPr>
              <a:t>We injected </a:t>
            </a:r>
            <a:r>
              <a:rPr b="1" i="0" lang="en-US" sz="1650" u="none" cap="none" strike="noStrike">
                <a:solidFill>
                  <a:srgbClr val="00F2FF"/>
                </a:solidFill>
                <a:latin typeface="Urbanist"/>
                <a:ea typeface="Urbanist"/>
                <a:cs typeface="Urbanist"/>
                <a:sym typeface="Urbanist"/>
              </a:rPr>
              <a:t>metadata</a:t>
            </a:r>
            <a:r>
              <a:rPr b="0" i="0" lang="en-US" sz="1650" u="none" cap="none" strike="noStrike">
                <a:solidFill>
                  <a:srgbClr val="BDC3C7"/>
                </a:solidFill>
                <a:latin typeface="Urbanist"/>
                <a:ea typeface="Urbanist"/>
                <a:cs typeface="Urbanist"/>
                <a:sym typeface="Urbanist"/>
              </a:rPr>
              <a:t> (category, material, style) into a rigid prompt template, comparing </a:t>
            </a:r>
            <a:r>
              <a:rPr b="0" i="1" lang="en-US" sz="1650" u="none" cap="none" strike="noStrike">
                <a:solidFill>
                  <a:srgbClr val="BDC3C7"/>
                </a:solidFill>
                <a:latin typeface="Urbanist"/>
                <a:ea typeface="Urbanist"/>
                <a:cs typeface="Urbanist"/>
                <a:sym typeface="Urbanist"/>
              </a:rPr>
              <a:t>Naive Prompting</a:t>
            </a:r>
            <a:r>
              <a:rPr b="0" i="0" lang="en-US" sz="1650" u="none" cap="none" strike="noStrike">
                <a:solidFill>
                  <a:srgbClr val="BDC3C7"/>
                </a:solidFill>
                <a:latin typeface="Urbanist"/>
                <a:ea typeface="Urbanist"/>
                <a:cs typeface="Urbanist"/>
                <a:sym typeface="Urbanist"/>
              </a:rPr>
              <a:t> against </a:t>
            </a:r>
            <a:r>
              <a:rPr b="0" i="1" lang="en-US" sz="1650" u="none" cap="none" strike="noStrike">
                <a:solidFill>
                  <a:srgbClr val="BDC3C7"/>
                </a:solidFill>
                <a:latin typeface="Urbanist"/>
                <a:ea typeface="Urbanist"/>
                <a:cs typeface="Urbanist"/>
                <a:sym typeface="Urbanist"/>
              </a:rPr>
              <a:t>Structured Prompt Engineering</a:t>
            </a:r>
            <a:r>
              <a:rPr b="0" i="0" lang="en-US" sz="1650" u="none" cap="none" strike="noStrike">
                <a:solidFill>
                  <a:srgbClr val="BDC3C7"/>
                </a:solidFill>
                <a:latin typeface="Urbanist"/>
                <a:ea typeface="Urbanist"/>
                <a:cs typeface="Urbanist"/>
                <a:sym typeface="Urbanist"/>
              </a:rPr>
              <a:t>.</a:t>
            </a:r>
            <a:endParaRPr/>
          </a:p>
        </p:txBody>
      </p:sp>
      <p:sp>
        <p:nvSpPr>
          <p:cNvPr id="111" name="Google Shape;111;p15"/>
          <p:cNvSpPr txBox="1"/>
          <p:nvPr/>
        </p:nvSpPr>
        <p:spPr>
          <a:xfrm>
            <a:off x="809625" y="571500"/>
            <a:ext cx="11351418"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FFFFFF"/>
                </a:solidFill>
                <a:latin typeface="Urbanist"/>
                <a:ea typeface="Urbanist"/>
                <a:cs typeface="Urbanist"/>
                <a:sym typeface="Urbanist"/>
              </a:rPr>
              <a:t>CONTEXT &amp; METHODOLOGY</a:t>
            </a:r>
            <a:endParaRPr/>
          </a:p>
        </p:txBody>
      </p:sp>
      <p:sp>
        <p:nvSpPr>
          <p:cNvPr id="112" name="Google Shape;112;p15"/>
          <p:cNvSpPr/>
          <p:nvPr/>
        </p:nvSpPr>
        <p:spPr>
          <a:xfrm>
            <a:off x="571500" y="571500"/>
            <a:ext cx="57150" cy="457200"/>
          </a:xfrm>
          <a:prstGeom prst="rect">
            <a:avLst/>
          </a:prstGeom>
          <a:solidFill>
            <a:srgbClr val="A2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E14"/>
        </a:solidFill>
      </p:bgPr>
    </p:bg>
    <p:spTree>
      <p:nvGrpSpPr>
        <p:cNvPr id="116" name="Shape 116"/>
        <p:cNvGrpSpPr/>
        <p:nvPr/>
      </p:nvGrpSpPr>
      <p:grpSpPr>
        <a:xfrm>
          <a:off x="0" y="0"/>
          <a:ext cx="0" cy="0"/>
          <a:chOff x="0" y="0"/>
          <a:chExt cx="0" cy="0"/>
        </a:xfrm>
      </p:grpSpPr>
      <p:pic>
        <p:nvPicPr>
          <p:cNvPr descr="image.png" id="117" name="Google Shape;117;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8" name="Google Shape;118;p16"/>
          <p:cNvSpPr txBox="1"/>
          <p:nvPr/>
        </p:nvSpPr>
        <p:spPr>
          <a:xfrm>
            <a:off x="571500" y="5186362"/>
            <a:ext cx="11049000" cy="31432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1" lang="en-US" sz="1650" u="none" cap="none" strike="noStrike">
                <a:solidFill>
                  <a:srgbClr val="BDC3C7"/>
                </a:solidFill>
                <a:latin typeface="Urbanist"/>
                <a:ea typeface="Urbanist"/>
                <a:cs typeface="Urbanist"/>
                <a:sym typeface="Urbanist"/>
              </a:rPr>
              <a:t>*Dataset: 10 diverse e-commerce products evaluated across 3 deterministic seeds.</a:t>
            </a:r>
            <a:endParaRPr/>
          </a:p>
        </p:txBody>
      </p:sp>
      <p:graphicFrame>
        <p:nvGraphicFramePr>
          <p:cNvPr id="119" name="Google Shape;119;p16"/>
          <p:cNvGraphicFramePr/>
          <p:nvPr/>
        </p:nvGraphicFramePr>
        <p:xfrm>
          <a:off x="571500" y="2195512"/>
          <a:ext cx="3000000" cy="3000000"/>
        </p:xfrm>
        <a:graphic>
          <a:graphicData uri="http://schemas.openxmlformats.org/drawingml/2006/table">
            <a:tbl>
              <a:tblPr bandRow="1" firstRow="1">
                <a:noFill/>
                <a:tableStyleId>{88DE056D-B71A-4890-995C-4B912CB7E39D}</a:tableStyleId>
              </a:tblPr>
              <a:tblGrid>
                <a:gridCol w="2920900"/>
                <a:gridCol w="2425600"/>
                <a:gridCol w="2984450"/>
                <a:gridCol w="2718050"/>
              </a:tblGrid>
              <a:tr h="700075">
                <a:tc>
                  <a:txBody>
                    <a:bodyPr/>
                    <a:lstStyle/>
                    <a:p>
                      <a:pPr indent="0" lvl="0" marL="0" marR="0" rtl="0" algn="l">
                        <a:spcBef>
                          <a:spcPts val="0"/>
                        </a:spcBef>
                        <a:spcAft>
                          <a:spcPts val="0"/>
                        </a:spcAft>
                        <a:buNone/>
                      </a:pPr>
                      <a:r>
                        <a:rPr b="1" i="0" lang="en-US" sz="1500" u="none" cap="none" strike="noStrike">
                          <a:solidFill>
                            <a:srgbClr val="0B0E14"/>
                          </a:solidFill>
                          <a:latin typeface="Urbanist"/>
                          <a:ea typeface="Urbanist"/>
                          <a:cs typeface="Urbanist"/>
                          <a:sym typeface="Urbanist"/>
                        </a:rPr>
                        <a:t>Metric Type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F2FF"/>
                    </a:solidFill>
                  </a:tcPr>
                </a:tc>
                <a:tc>
                  <a:txBody>
                    <a:bodyPr/>
                    <a:lstStyle/>
                    <a:p>
                      <a:pPr indent="0" lvl="0" marL="0" marR="0" rtl="0" algn="l">
                        <a:spcBef>
                          <a:spcPts val="0"/>
                        </a:spcBef>
                        <a:spcAft>
                          <a:spcPts val="0"/>
                        </a:spcAft>
                        <a:buNone/>
                      </a:pPr>
                      <a:r>
                        <a:rPr b="1" i="0" lang="en-US" sz="1500" u="none" cap="none" strike="noStrike">
                          <a:solidFill>
                            <a:srgbClr val="0B0E14"/>
                          </a:solidFill>
                          <a:latin typeface="Urbanist"/>
                          <a:ea typeface="Urbanist"/>
                          <a:cs typeface="Urbanist"/>
                          <a:sym typeface="Urbanist"/>
                        </a:rPr>
                        <a:t>Naive Prompting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F2FF"/>
                    </a:solidFill>
                  </a:tcPr>
                </a:tc>
                <a:tc>
                  <a:txBody>
                    <a:bodyPr/>
                    <a:lstStyle/>
                    <a:p>
                      <a:pPr indent="0" lvl="0" marL="0" marR="0" rtl="0" algn="l">
                        <a:spcBef>
                          <a:spcPts val="0"/>
                        </a:spcBef>
                        <a:spcAft>
                          <a:spcPts val="0"/>
                        </a:spcAft>
                        <a:buNone/>
                      </a:pPr>
                      <a:r>
                        <a:rPr b="1" i="0" lang="en-US" sz="1500" u="none" cap="none" strike="noStrike">
                          <a:solidFill>
                            <a:srgbClr val="0B0E14"/>
                          </a:solidFill>
                          <a:latin typeface="Urbanist"/>
                          <a:ea typeface="Urbanist"/>
                          <a:cs typeface="Urbanist"/>
                          <a:sym typeface="Urbanist"/>
                        </a:rPr>
                        <a:t>Structured Prompting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F2FF"/>
                    </a:solidFill>
                  </a:tcPr>
                </a:tc>
                <a:tc>
                  <a:txBody>
                    <a:bodyPr/>
                    <a:lstStyle/>
                    <a:p>
                      <a:pPr indent="0" lvl="0" marL="0" marR="0" rtl="0" algn="l">
                        <a:spcBef>
                          <a:spcPts val="0"/>
                        </a:spcBef>
                        <a:spcAft>
                          <a:spcPts val="0"/>
                        </a:spcAft>
                        <a:buNone/>
                      </a:pPr>
                      <a:r>
                        <a:rPr b="1" i="0" lang="en-US" sz="1500" u="none" cap="none" strike="noStrike">
                          <a:solidFill>
                            <a:srgbClr val="0B0E14"/>
                          </a:solidFill>
                          <a:latin typeface="Urbanist"/>
                          <a:ea typeface="Urbanist"/>
                          <a:cs typeface="Urbanist"/>
                          <a:sym typeface="Urbanist"/>
                        </a:rPr>
                        <a:t>Delta Improvement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F2FF"/>
                    </a:solidFill>
                  </a:tcPr>
                </a:tc>
              </a:tr>
              <a:tr h="700075">
                <a:tc>
                  <a:txBody>
                    <a:bodyPr/>
                    <a:lstStyle/>
                    <a:p>
                      <a:pPr indent="0" lvl="0" marL="0" marR="0" rtl="0" algn="l">
                        <a:spcBef>
                          <a:spcPts val="0"/>
                        </a:spcBef>
                        <a:spcAft>
                          <a:spcPts val="0"/>
                        </a:spcAft>
                        <a:buNone/>
                      </a:pPr>
                      <a:r>
                        <a:rPr b="1" i="0" lang="en-US" sz="1200" u="none" cap="none" strike="noStrike">
                          <a:solidFill>
                            <a:srgbClr val="FFFFFF"/>
                          </a:solidFill>
                          <a:latin typeface="Urbanist"/>
                          <a:ea typeface="Urbanist"/>
                          <a:cs typeface="Urbanist"/>
                          <a:sym typeface="Urbanist"/>
                        </a:rPr>
                        <a:t>Text Alignment (CLIP)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61B22"/>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Urbanist"/>
                          <a:ea typeface="Urbanist"/>
                          <a:cs typeface="Urbanist"/>
                          <a:sym typeface="Urbanist"/>
                        </a:rPr>
                        <a:t>0.281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61B22"/>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Urbanist"/>
                          <a:ea typeface="Urbanist"/>
                          <a:cs typeface="Urbanist"/>
                          <a:sym typeface="Urbanist"/>
                        </a:rPr>
                        <a:t>0.284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61B22"/>
                    </a:solidFill>
                  </a:tcPr>
                </a:tc>
                <a:tc>
                  <a:txBody>
                    <a:bodyPr/>
                    <a:lstStyle/>
                    <a:p>
                      <a:pPr indent="0" lvl="0" marL="0" marR="0" rtl="0" algn="l">
                        <a:spcBef>
                          <a:spcPts val="0"/>
                        </a:spcBef>
                        <a:spcAft>
                          <a:spcPts val="0"/>
                        </a:spcAft>
                        <a:buNone/>
                      </a:pPr>
                      <a:r>
                        <a:rPr b="0" i="0" lang="en-US" sz="1200" u="none" cap="none" strike="noStrike">
                          <a:solidFill>
                            <a:srgbClr val="A2FF00"/>
                          </a:solidFill>
                          <a:latin typeface="Urbanist"/>
                          <a:ea typeface="Urbanist"/>
                          <a:cs typeface="Urbanist"/>
                          <a:sym typeface="Urbanist"/>
                        </a:rPr>
                        <a:t>+1.1%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61B22"/>
                    </a:solidFill>
                  </a:tcPr>
                </a:tc>
              </a:tr>
              <a:tr h="700075">
                <a:tc>
                  <a:txBody>
                    <a:bodyPr/>
                    <a:lstStyle/>
                    <a:p>
                      <a:pPr indent="0" lvl="0" marL="0" marR="0" rtl="0" algn="l">
                        <a:spcBef>
                          <a:spcPts val="0"/>
                        </a:spcBef>
                        <a:spcAft>
                          <a:spcPts val="0"/>
                        </a:spcAft>
                        <a:buNone/>
                      </a:pPr>
                      <a:r>
                        <a:rPr b="1" i="0" lang="en-US" sz="1200" u="none" cap="none" strike="noStrike">
                          <a:solidFill>
                            <a:srgbClr val="FFFFFF"/>
                          </a:solidFill>
                          <a:latin typeface="Urbanist"/>
                          <a:ea typeface="Urbanist"/>
                          <a:cs typeface="Urbanist"/>
                          <a:sym typeface="Urbanist"/>
                        </a:rPr>
                        <a:t>Visual Consistency (SSIM)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61B22"/>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Urbanist"/>
                          <a:ea typeface="Urbanist"/>
                          <a:cs typeface="Urbanist"/>
                          <a:sym typeface="Urbanist"/>
                        </a:rPr>
                        <a:t>0.360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61B22"/>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Urbanist"/>
                          <a:ea typeface="Urbanist"/>
                          <a:cs typeface="Urbanist"/>
                          <a:sym typeface="Urbanist"/>
                        </a:rPr>
                        <a:t>0.442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61B22"/>
                    </a:solidFill>
                  </a:tcPr>
                </a:tc>
                <a:tc>
                  <a:txBody>
                    <a:bodyPr/>
                    <a:lstStyle/>
                    <a:p>
                      <a:pPr indent="0" lvl="0" marL="0" marR="0" rtl="0" algn="l">
                        <a:spcBef>
                          <a:spcPts val="0"/>
                        </a:spcBef>
                        <a:spcAft>
                          <a:spcPts val="0"/>
                        </a:spcAft>
                        <a:buNone/>
                      </a:pPr>
                      <a:r>
                        <a:rPr b="0" i="0" lang="en-US" sz="1200" u="none" cap="none" strike="noStrike">
                          <a:solidFill>
                            <a:srgbClr val="A2FF00"/>
                          </a:solidFill>
                          <a:latin typeface="Urbanist"/>
                          <a:ea typeface="Urbanist"/>
                          <a:cs typeface="Urbanist"/>
                          <a:sym typeface="Urbanist"/>
                        </a:rPr>
                        <a:t>+22.8%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61B22"/>
                    </a:solidFill>
                  </a:tcPr>
                </a:tc>
              </a:tr>
              <a:tr h="700100">
                <a:tc>
                  <a:txBody>
                    <a:bodyPr/>
                    <a:lstStyle/>
                    <a:p>
                      <a:pPr indent="0" lvl="0" marL="0" marR="0" rtl="0" algn="l">
                        <a:spcBef>
                          <a:spcPts val="0"/>
                        </a:spcBef>
                        <a:spcAft>
                          <a:spcPts val="0"/>
                        </a:spcAft>
                        <a:buNone/>
                      </a:pPr>
                      <a:r>
                        <a:rPr b="1" i="0" lang="en-US" sz="1200" u="none" cap="none" strike="noStrike">
                          <a:solidFill>
                            <a:srgbClr val="FFFFFF"/>
                          </a:solidFill>
                          <a:latin typeface="Urbanist"/>
                          <a:ea typeface="Urbanist"/>
                          <a:cs typeface="Urbanist"/>
                          <a:sym typeface="Urbanist"/>
                        </a:rPr>
                        <a:t>Structural Stability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61B22"/>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Urbanist"/>
                          <a:ea typeface="Urbanist"/>
                          <a:cs typeface="Urbanist"/>
                          <a:sym typeface="Urbanist"/>
                        </a:rPr>
                        <a:t>Variable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61B22"/>
                    </a:solidFill>
                  </a:tcPr>
                </a:tc>
                <a:tc>
                  <a:txBody>
                    <a:bodyPr/>
                    <a:lstStyle/>
                    <a:p>
                      <a:pPr indent="0" lvl="0" marL="0" marR="0" rtl="0" algn="l">
                        <a:spcBef>
                          <a:spcPts val="0"/>
                        </a:spcBef>
                        <a:spcAft>
                          <a:spcPts val="0"/>
                        </a:spcAft>
                        <a:buNone/>
                      </a:pPr>
                      <a:r>
                        <a:rPr b="0" i="0" lang="en-US" sz="1200" u="none" cap="none" strike="noStrike">
                          <a:solidFill>
                            <a:srgbClr val="FFFFFF"/>
                          </a:solidFill>
                          <a:latin typeface="Urbanist"/>
                          <a:ea typeface="Urbanist"/>
                          <a:cs typeface="Urbanist"/>
                          <a:sym typeface="Urbanist"/>
                        </a:rPr>
                        <a:t>Rigid/Consistent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61B22"/>
                    </a:solidFill>
                  </a:tcPr>
                </a:tc>
                <a:tc>
                  <a:txBody>
                    <a:bodyPr/>
                    <a:lstStyle/>
                    <a:p>
                      <a:pPr indent="0" lvl="0" marL="0" marR="0" rtl="0" algn="l">
                        <a:spcBef>
                          <a:spcPts val="0"/>
                        </a:spcBef>
                        <a:spcAft>
                          <a:spcPts val="0"/>
                        </a:spcAft>
                        <a:buNone/>
                      </a:pPr>
                      <a:r>
                        <a:rPr b="0" i="0" lang="en-US" sz="1200" u="none" cap="none" strike="noStrike">
                          <a:solidFill>
                            <a:srgbClr val="A2FF00"/>
                          </a:solidFill>
                          <a:latin typeface="Urbanist"/>
                          <a:ea typeface="Urbanist"/>
                          <a:cs typeface="Urbanist"/>
                          <a:sym typeface="Urbanist"/>
                        </a:rPr>
                        <a:t>High Impact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161B22"/>
                    </a:solidFill>
                  </a:tcPr>
                </a:tc>
              </a:tr>
            </a:tbl>
          </a:graphicData>
        </a:graphic>
      </p:graphicFrame>
      <p:sp>
        <p:nvSpPr>
          <p:cNvPr id="120" name="Google Shape;120;p16"/>
          <p:cNvSpPr/>
          <p:nvPr/>
        </p:nvSpPr>
        <p:spPr>
          <a:xfrm>
            <a:off x="571500" y="2995612"/>
            <a:ext cx="292090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1" name="Google Shape;121;p16"/>
          <p:cNvSpPr/>
          <p:nvPr/>
        </p:nvSpPr>
        <p:spPr>
          <a:xfrm>
            <a:off x="3492400" y="2995612"/>
            <a:ext cx="242560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 name="Google Shape;122;p16"/>
          <p:cNvSpPr/>
          <p:nvPr/>
        </p:nvSpPr>
        <p:spPr>
          <a:xfrm>
            <a:off x="5918001" y="2995612"/>
            <a:ext cx="298445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16"/>
          <p:cNvSpPr/>
          <p:nvPr/>
        </p:nvSpPr>
        <p:spPr>
          <a:xfrm>
            <a:off x="8902451" y="2995612"/>
            <a:ext cx="2718048"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16"/>
          <p:cNvSpPr/>
          <p:nvPr/>
        </p:nvSpPr>
        <p:spPr>
          <a:xfrm>
            <a:off x="571500" y="3662362"/>
            <a:ext cx="292090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 name="Google Shape;125;p16"/>
          <p:cNvSpPr/>
          <p:nvPr/>
        </p:nvSpPr>
        <p:spPr>
          <a:xfrm>
            <a:off x="3492400" y="3662362"/>
            <a:ext cx="242560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 name="Google Shape;126;p16"/>
          <p:cNvSpPr/>
          <p:nvPr/>
        </p:nvSpPr>
        <p:spPr>
          <a:xfrm>
            <a:off x="5918001" y="3662362"/>
            <a:ext cx="298445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 name="Google Shape;127;p16"/>
          <p:cNvSpPr/>
          <p:nvPr/>
        </p:nvSpPr>
        <p:spPr>
          <a:xfrm>
            <a:off x="8902451" y="3662362"/>
            <a:ext cx="2718048"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8" name="Google Shape;128;p16"/>
          <p:cNvSpPr/>
          <p:nvPr/>
        </p:nvSpPr>
        <p:spPr>
          <a:xfrm>
            <a:off x="571500" y="4329112"/>
            <a:ext cx="292090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16"/>
          <p:cNvSpPr/>
          <p:nvPr/>
        </p:nvSpPr>
        <p:spPr>
          <a:xfrm>
            <a:off x="3492400" y="4329112"/>
            <a:ext cx="242560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 name="Google Shape;130;p16"/>
          <p:cNvSpPr/>
          <p:nvPr/>
        </p:nvSpPr>
        <p:spPr>
          <a:xfrm>
            <a:off x="5918001" y="4329112"/>
            <a:ext cx="2984450"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6"/>
          <p:cNvSpPr/>
          <p:nvPr/>
        </p:nvSpPr>
        <p:spPr>
          <a:xfrm>
            <a:off x="8902451" y="4329112"/>
            <a:ext cx="2718048" cy="9525"/>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2" name="Google Shape;132;p16"/>
          <p:cNvSpPr txBox="1"/>
          <p:nvPr/>
        </p:nvSpPr>
        <p:spPr>
          <a:xfrm>
            <a:off x="809625" y="571500"/>
            <a:ext cx="11351418"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FFFFFF"/>
                </a:solidFill>
                <a:latin typeface="Urbanist"/>
                <a:ea typeface="Urbanist"/>
                <a:cs typeface="Urbanist"/>
                <a:sym typeface="Urbanist"/>
              </a:rPr>
              <a:t>QUANTITATIVE EVALUATION</a:t>
            </a:r>
            <a:endParaRPr/>
          </a:p>
        </p:txBody>
      </p:sp>
      <p:sp>
        <p:nvSpPr>
          <p:cNvPr id="133" name="Google Shape;133;p16"/>
          <p:cNvSpPr/>
          <p:nvPr/>
        </p:nvSpPr>
        <p:spPr>
          <a:xfrm>
            <a:off x="571500" y="571500"/>
            <a:ext cx="57150" cy="457200"/>
          </a:xfrm>
          <a:prstGeom prst="rect">
            <a:avLst/>
          </a:prstGeom>
          <a:solidFill>
            <a:srgbClr val="A2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E14"/>
        </a:solidFill>
      </p:bgPr>
    </p:bg>
    <p:spTree>
      <p:nvGrpSpPr>
        <p:cNvPr id="137" name="Shape 137"/>
        <p:cNvGrpSpPr/>
        <p:nvPr/>
      </p:nvGrpSpPr>
      <p:grpSpPr>
        <a:xfrm>
          <a:off x="0" y="0"/>
          <a:ext cx="0" cy="0"/>
          <a:chOff x="0" y="0"/>
          <a:chExt cx="0" cy="0"/>
        </a:xfrm>
      </p:grpSpPr>
      <p:pic>
        <p:nvPicPr>
          <p:cNvPr descr="image.png" id="138" name="Google Shape;138;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9" name="Google Shape;139;p17"/>
          <p:cNvSpPr txBox="1"/>
          <p:nvPr/>
        </p:nvSpPr>
        <p:spPr>
          <a:xfrm>
            <a:off x="809625" y="1323975"/>
            <a:ext cx="4950618"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FFFFFF"/>
                </a:solidFill>
                <a:latin typeface="Urbanist"/>
                <a:ea typeface="Urbanist"/>
                <a:cs typeface="Urbanist"/>
                <a:sym typeface="Urbanist"/>
              </a:rPr>
              <a:t>CONSISTENCY IMPACT</a:t>
            </a:r>
            <a:endParaRPr/>
          </a:p>
        </p:txBody>
      </p:sp>
      <p:sp>
        <p:nvSpPr>
          <p:cNvPr id="140" name="Google Shape;140;p17"/>
          <p:cNvSpPr/>
          <p:nvPr/>
        </p:nvSpPr>
        <p:spPr>
          <a:xfrm>
            <a:off x="571500" y="1323975"/>
            <a:ext cx="57150" cy="457200"/>
          </a:xfrm>
          <a:prstGeom prst="rect">
            <a:avLst/>
          </a:prstGeom>
          <a:solidFill>
            <a:srgbClr val="A2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17"/>
          <p:cNvSpPr txBox="1"/>
          <p:nvPr/>
        </p:nvSpPr>
        <p:spPr>
          <a:xfrm>
            <a:off x="571500" y="2162175"/>
            <a:ext cx="4953000" cy="1143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9000" u="none" cap="none" strike="noStrike">
                <a:solidFill>
                  <a:srgbClr val="A2FF00"/>
                </a:solidFill>
                <a:latin typeface="Urbanist"/>
                <a:ea typeface="Urbanist"/>
                <a:cs typeface="Urbanist"/>
                <a:sym typeface="Urbanist"/>
              </a:rPr>
              <a:t>+22.8%</a:t>
            </a:r>
            <a:endParaRPr/>
          </a:p>
        </p:txBody>
      </p:sp>
      <p:sp>
        <p:nvSpPr>
          <p:cNvPr id="142" name="Google Shape;142;p17"/>
          <p:cNvSpPr txBox="1"/>
          <p:nvPr/>
        </p:nvSpPr>
        <p:spPr>
          <a:xfrm>
            <a:off x="571500" y="3305175"/>
            <a:ext cx="4953000" cy="342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800" u="none" cap="none" strike="noStrike">
                <a:solidFill>
                  <a:srgbClr val="00F2FF"/>
                </a:solidFill>
                <a:latin typeface="JetBrains Mono"/>
                <a:ea typeface="JetBrains Mono"/>
                <a:cs typeface="JetBrains Mono"/>
                <a:sym typeface="JetBrains Mono"/>
              </a:rPr>
              <a:t>Improvement in SSIM Scores</a:t>
            </a:r>
            <a:endParaRPr/>
          </a:p>
        </p:txBody>
      </p:sp>
      <p:sp>
        <p:nvSpPr>
          <p:cNvPr id="143" name="Google Shape;143;p17"/>
          <p:cNvSpPr txBox="1"/>
          <p:nvPr/>
        </p:nvSpPr>
        <p:spPr>
          <a:xfrm>
            <a:off x="571500" y="3933825"/>
            <a:ext cx="4953000" cy="1015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BDC3C7"/>
                </a:solidFill>
                <a:latin typeface="Urbanist"/>
                <a:ea typeface="Urbanist"/>
                <a:cs typeface="Urbanist"/>
                <a:sym typeface="Urbanist"/>
              </a:rPr>
              <a:t>Structured prompts proved </a:t>
            </a:r>
            <a:r>
              <a:rPr b="1" i="0" lang="en-US" sz="1650" u="none" cap="none" strike="noStrike">
                <a:solidFill>
                  <a:srgbClr val="00F2FF"/>
                </a:solidFill>
                <a:latin typeface="Urbanist"/>
                <a:ea typeface="Urbanist"/>
                <a:cs typeface="Urbanist"/>
                <a:sym typeface="Urbanist"/>
              </a:rPr>
              <a:t>exceptionally effective</a:t>
            </a:r>
            <a:r>
              <a:rPr b="0" i="0" lang="en-US" sz="1650" u="none" cap="none" strike="noStrike">
                <a:solidFill>
                  <a:srgbClr val="BDC3C7"/>
                </a:solidFill>
                <a:latin typeface="Urbanist"/>
                <a:ea typeface="Urbanist"/>
                <a:cs typeface="Urbanist"/>
                <a:sym typeface="Urbanist"/>
              </a:rPr>
              <a:t> for solid objects (mugs, s</a:t>
            </a:r>
            <a:r>
              <a:rPr lang="en-US" sz="1650">
                <a:solidFill>
                  <a:srgbClr val="BDC3C7"/>
                </a:solidFill>
                <a:latin typeface="Urbanist"/>
                <a:ea typeface="Urbanist"/>
                <a:cs typeface="Urbanist"/>
                <a:sym typeface="Urbanist"/>
              </a:rPr>
              <a:t>n</a:t>
            </a:r>
            <a:r>
              <a:rPr b="0" i="0" lang="en-US" sz="1650" u="none" cap="none" strike="noStrike">
                <a:solidFill>
                  <a:srgbClr val="BDC3C7"/>
                </a:solidFill>
                <a:latin typeface="Urbanist"/>
                <a:ea typeface="Urbanist"/>
                <a:cs typeface="Urbanist"/>
                <a:sym typeface="Urbanist"/>
              </a:rPr>
              <a:t>eakers) by stabilizing geometry and lighting.</a:t>
            </a:r>
            <a:endParaRPr/>
          </a:p>
        </p:txBody>
      </p:sp>
      <p:sp>
        <p:nvSpPr>
          <p:cNvPr id="144" name="Google Shape;144;p17"/>
          <p:cNvSpPr txBox="1"/>
          <p:nvPr/>
        </p:nvSpPr>
        <p:spPr>
          <a:xfrm>
            <a:off x="571500" y="5019675"/>
            <a:ext cx="4953000" cy="5143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350" u="none" cap="none" strike="noStrike">
                <a:solidFill>
                  <a:srgbClr val="A2FF00"/>
                </a:solidFill>
                <a:latin typeface="Urbanist"/>
                <a:ea typeface="Urbanist"/>
                <a:cs typeface="Urbanist"/>
                <a:sym typeface="Urbanist"/>
              </a:rPr>
              <a:t>Note: Complex geometries like shoes remain a challenge for current prompting techniques.</a:t>
            </a:r>
            <a:endParaRPr/>
          </a:p>
        </p:txBody>
      </p:sp>
      <p:pic>
        <p:nvPicPr>
          <p:cNvPr id="145" name="Google Shape;145;p17"/>
          <p:cNvPicPr preferRelativeResize="0"/>
          <p:nvPr/>
        </p:nvPicPr>
        <p:blipFill>
          <a:blip r:embed="rId4">
            <a:alphaModFix/>
          </a:blip>
          <a:stretch>
            <a:fillRect/>
          </a:stretch>
        </p:blipFill>
        <p:spPr>
          <a:xfrm>
            <a:off x="5864325" y="0"/>
            <a:ext cx="6327675" cy="69056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E14"/>
        </a:solidFill>
      </p:bgPr>
    </p:bg>
    <p:spTree>
      <p:nvGrpSpPr>
        <p:cNvPr id="149" name="Shape 149"/>
        <p:cNvGrpSpPr/>
        <p:nvPr/>
      </p:nvGrpSpPr>
      <p:grpSpPr>
        <a:xfrm>
          <a:off x="0" y="0"/>
          <a:ext cx="0" cy="0"/>
          <a:chOff x="0" y="0"/>
          <a:chExt cx="0" cy="0"/>
        </a:xfrm>
      </p:grpSpPr>
      <p:pic>
        <p:nvPicPr>
          <p:cNvPr descr="image.png" id="150" name="Google Shape;150;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1" name="Google Shape;151;p18"/>
          <p:cNvSpPr txBox="1"/>
          <p:nvPr/>
        </p:nvSpPr>
        <p:spPr>
          <a:xfrm>
            <a:off x="571500" y="571500"/>
            <a:ext cx="11049000" cy="31432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650" u="none" cap="none" strike="noStrike">
                <a:solidFill>
                  <a:srgbClr val="BDC3C7"/>
                </a:solidFill>
                <a:latin typeface="Urbanist"/>
                <a:ea typeface="Urbanist"/>
                <a:cs typeface="Urbanist"/>
                <a:sym typeface="Urbanist"/>
              </a:rPr>
              <a:t>QUIZ 2</a:t>
            </a:r>
            <a:endParaRPr/>
          </a:p>
        </p:txBody>
      </p:sp>
      <p:sp>
        <p:nvSpPr>
          <p:cNvPr id="152" name="Google Shape;152;p18"/>
          <p:cNvSpPr/>
          <p:nvPr/>
        </p:nvSpPr>
        <p:spPr>
          <a:xfrm>
            <a:off x="5524500" y="1171575"/>
            <a:ext cx="1143000" cy="38100"/>
          </a:xfrm>
          <a:prstGeom prst="rect">
            <a:avLst/>
          </a:prstGeom>
          <a:solidFill>
            <a:srgbClr val="A2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18"/>
          <p:cNvSpPr txBox="1"/>
          <p:nvPr/>
        </p:nvSpPr>
        <p:spPr>
          <a:xfrm>
            <a:off x="295275" y="1495425"/>
            <a:ext cx="11601450" cy="1466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4800" u="none" cap="none" strike="noStrike">
                <a:solidFill>
                  <a:srgbClr val="FFFFFF"/>
                </a:solidFill>
                <a:latin typeface="Urbanist"/>
                <a:ea typeface="Urbanist"/>
                <a:cs typeface="Urbanist"/>
                <a:sym typeface="Urbanist"/>
              </a:rPr>
              <a:t>AI Speech Intelligence</a:t>
            </a:r>
            <a:br>
              <a:rPr b="0" i="0" lang="en-US" sz="1800" u="none" cap="none" strike="noStrike">
                <a:solidFill>
                  <a:schemeClr val="dk1"/>
                </a:solidFill>
                <a:latin typeface="Calibri"/>
                <a:ea typeface="Calibri"/>
                <a:cs typeface="Calibri"/>
                <a:sym typeface="Calibri"/>
              </a:rPr>
            </a:br>
            <a:r>
              <a:rPr b="1" i="0" lang="en-US" sz="4800" u="none" cap="none" strike="noStrike">
                <a:solidFill>
                  <a:srgbClr val="FFFFFF"/>
                </a:solidFill>
                <a:latin typeface="Urbanist"/>
                <a:ea typeface="Urbanist"/>
                <a:cs typeface="Urbanist"/>
                <a:sym typeface="Urbanist"/>
              </a:rPr>
              <a:t> Autonomous Pipeline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E14"/>
        </a:solidFill>
      </p:bgPr>
    </p:bg>
    <p:spTree>
      <p:nvGrpSpPr>
        <p:cNvPr id="157" name="Shape 157"/>
        <p:cNvGrpSpPr/>
        <p:nvPr/>
      </p:nvGrpSpPr>
      <p:grpSpPr>
        <a:xfrm>
          <a:off x="0" y="0"/>
          <a:ext cx="0" cy="0"/>
          <a:chOff x="0" y="0"/>
          <a:chExt cx="0" cy="0"/>
        </a:xfrm>
      </p:grpSpPr>
      <p:pic>
        <p:nvPicPr>
          <p:cNvPr descr="image.png" id="158" name="Google Shape;158;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59" name="Google Shape;159;p19"/>
          <p:cNvPicPr preferRelativeResize="0"/>
          <p:nvPr/>
        </p:nvPicPr>
        <p:blipFill rotWithShape="1">
          <a:blip r:embed="rId4">
            <a:alphaModFix/>
          </a:blip>
          <a:srcRect b="0" l="0" r="0" t="0"/>
          <a:stretch/>
        </p:blipFill>
        <p:spPr>
          <a:xfrm>
            <a:off x="571500" y="2357437"/>
            <a:ext cx="3492549" cy="2981325"/>
          </a:xfrm>
          <a:prstGeom prst="rect">
            <a:avLst/>
          </a:prstGeom>
          <a:noFill/>
          <a:ln>
            <a:noFill/>
          </a:ln>
        </p:spPr>
      </p:pic>
      <p:pic>
        <p:nvPicPr>
          <p:cNvPr descr="image.png" id="160" name="Google Shape;160;p19"/>
          <p:cNvPicPr preferRelativeResize="0"/>
          <p:nvPr/>
        </p:nvPicPr>
        <p:blipFill rotWithShape="1">
          <a:blip r:embed="rId5">
            <a:alphaModFix/>
          </a:blip>
          <a:srcRect b="0" l="0" r="0" t="0"/>
          <a:stretch/>
        </p:blipFill>
        <p:spPr>
          <a:xfrm>
            <a:off x="4349799" y="2357437"/>
            <a:ext cx="3492549" cy="2981325"/>
          </a:xfrm>
          <a:prstGeom prst="rect">
            <a:avLst/>
          </a:prstGeom>
          <a:noFill/>
          <a:ln>
            <a:noFill/>
          </a:ln>
        </p:spPr>
      </p:pic>
      <p:pic>
        <p:nvPicPr>
          <p:cNvPr descr="image.png" id="161" name="Google Shape;161;p19"/>
          <p:cNvPicPr preferRelativeResize="0"/>
          <p:nvPr/>
        </p:nvPicPr>
        <p:blipFill rotWithShape="1">
          <a:blip r:embed="rId6">
            <a:alphaModFix/>
          </a:blip>
          <a:srcRect b="0" l="0" r="0" t="0"/>
          <a:stretch/>
        </p:blipFill>
        <p:spPr>
          <a:xfrm>
            <a:off x="8128099" y="2357437"/>
            <a:ext cx="3492549" cy="2981325"/>
          </a:xfrm>
          <a:prstGeom prst="rect">
            <a:avLst/>
          </a:prstGeom>
          <a:noFill/>
          <a:ln>
            <a:noFill/>
          </a:ln>
        </p:spPr>
      </p:pic>
      <p:sp>
        <p:nvSpPr>
          <p:cNvPr id="162" name="Google Shape;162;p19"/>
          <p:cNvSpPr txBox="1"/>
          <p:nvPr/>
        </p:nvSpPr>
        <p:spPr>
          <a:xfrm>
            <a:off x="884236" y="3557587"/>
            <a:ext cx="2867077"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FFFFFF"/>
                </a:solidFill>
                <a:latin typeface="Urbanist"/>
                <a:ea typeface="Urbanist"/>
                <a:cs typeface="Urbanist"/>
                <a:sym typeface="Urbanist"/>
              </a:rPr>
              <a:t>7-Model Chain</a:t>
            </a:r>
            <a:endParaRPr/>
          </a:p>
        </p:txBody>
      </p:sp>
      <p:sp>
        <p:nvSpPr>
          <p:cNvPr id="163" name="Google Shape;163;p19"/>
          <p:cNvSpPr txBox="1"/>
          <p:nvPr/>
        </p:nvSpPr>
        <p:spPr>
          <a:xfrm>
            <a:off x="952500" y="3976687"/>
            <a:ext cx="2730549" cy="94297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650" u="none" cap="none" strike="noStrike">
                <a:solidFill>
                  <a:srgbClr val="BDC3C7"/>
                </a:solidFill>
                <a:latin typeface="Urbanist"/>
                <a:ea typeface="Urbanist"/>
                <a:cs typeface="Urbanist"/>
                <a:sym typeface="Urbanist"/>
              </a:rPr>
              <a:t>Orchestrated 7 different Hugging Face models into a unified processing loop.</a:t>
            </a:r>
            <a:endParaRPr/>
          </a:p>
        </p:txBody>
      </p:sp>
      <p:sp>
        <p:nvSpPr>
          <p:cNvPr id="164" name="Google Shape;164;p19"/>
          <p:cNvSpPr txBox="1"/>
          <p:nvPr/>
        </p:nvSpPr>
        <p:spPr>
          <a:xfrm>
            <a:off x="4662535" y="3557587"/>
            <a:ext cx="2867077"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FFFFFF"/>
                </a:solidFill>
                <a:latin typeface="Urbanist"/>
                <a:ea typeface="Urbanist"/>
                <a:cs typeface="Urbanist"/>
                <a:sym typeface="Urbanist"/>
              </a:rPr>
              <a:t>Intelligence Loop</a:t>
            </a:r>
            <a:endParaRPr/>
          </a:p>
        </p:txBody>
      </p:sp>
      <p:sp>
        <p:nvSpPr>
          <p:cNvPr id="165" name="Google Shape;165;p19"/>
          <p:cNvSpPr txBox="1"/>
          <p:nvPr/>
        </p:nvSpPr>
        <p:spPr>
          <a:xfrm>
            <a:off x="4730799" y="3976687"/>
            <a:ext cx="2730549" cy="94297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650" u="none" cap="none" strike="noStrike">
                <a:solidFill>
                  <a:srgbClr val="BDC3C7"/>
                </a:solidFill>
                <a:latin typeface="Urbanist"/>
                <a:ea typeface="Urbanist"/>
                <a:cs typeface="Urbanist"/>
                <a:sym typeface="Urbanist"/>
              </a:rPr>
              <a:t>Full autonomous loop: Speech to Text to Summary to synthesized Voice.</a:t>
            </a:r>
            <a:endParaRPr/>
          </a:p>
        </p:txBody>
      </p:sp>
      <p:sp>
        <p:nvSpPr>
          <p:cNvPr id="166" name="Google Shape;166;p19"/>
          <p:cNvSpPr txBox="1"/>
          <p:nvPr/>
        </p:nvSpPr>
        <p:spPr>
          <a:xfrm>
            <a:off x="8440835" y="3557587"/>
            <a:ext cx="2867077"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FFFFFF"/>
                </a:solidFill>
                <a:latin typeface="Urbanist"/>
                <a:ea typeface="Urbanist"/>
                <a:cs typeface="Urbanist"/>
                <a:sym typeface="Urbanist"/>
              </a:rPr>
              <a:t>Structured Data</a:t>
            </a:r>
            <a:endParaRPr/>
          </a:p>
        </p:txBody>
      </p:sp>
      <p:sp>
        <p:nvSpPr>
          <p:cNvPr id="167" name="Google Shape;167;p19"/>
          <p:cNvSpPr txBox="1"/>
          <p:nvPr/>
        </p:nvSpPr>
        <p:spPr>
          <a:xfrm>
            <a:off x="8509099" y="3976687"/>
            <a:ext cx="2730549" cy="94297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650" u="none" cap="none" strike="noStrike">
                <a:solidFill>
                  <a:srgbClr val="BDC3C7"/>
                </a:solidFill>
                <a:latin typeface="Urbanist"/>
                <a:ea typeface="Urbanist"/>
                <a:cs typeface="Urbanist"/>
                <a:sym typeface="Urbanist"/>
              </a:rPr>
              <a:t>Outputting clean JSON with regex-parsed action items and sentiment analysis.</a:t>
            </a:r>
            <a:endParaRPr/>
          </a:p>
        </p:txBody>
      </p:sp>
      <p:pic>
        <p:nvPicPr>
          <p:cNvPr descr="image.png" id="168" name="Google Shape;168;p19"/>
          <p:cNvPicPr preferRelativeResize="0"/>
          <p:nvPr/>
        </p:nvPicPr>
        <p:blipFill rotWithShape="1">
          <a:blip r:embed="rId7">
            <a:alphaModFix/>
          </a:blip>
          <a:srcRect b="0" l="0" r="0" t="0"/>
          <a:stretch/>
        </p:blipFill>
        <p:spPr>
          <a:xfrm>
            <a:off x="2079575" y="2776537"/>
            <a:ext cx="476250" cy="476250"/>
          </a:xfrm>
          <a:prstGeom prst="rect">
            <a:avLst/>
          </a:prstGeom>
          <a:noFill/>
          <a:ln>
            <a:noFill/>
          </a:ln>
        </p:spPr>
      </p:pic>
      <p:pic>
        <p:nvPicPr>
          <p:cNvPr descr="image.png" id="169" name="Google Shape;169;p19"/>
          <p:cNvPicPr preferRelativeResize="0"/>
          <p:nvPr/>
        </p:nvPicPr>
        <p:blipFill rotWithShape="1">
          <a:blip r:embed="rId8">
            <a:alphaModFix/>
          </a:blip>
          <a:srcRect b="0" l="0" r="0" t="0"/>
          <a:stretch/>
        </p:blipFill>
        <p:spPr>
          <a:xfrm>
            <a:off x="5857875" y="2776537"/>
            <a:ext cx="476250" cy="476250"/>
          </a:xfrm>
          <a:prstGeom prst="rect">
            <a:avLst/>
          </a:prstGeom>
          <a:noFill/>
          <a:ln>
            <a:noFill/>
          </a:ln>
        </p:spPr>
      </p:pic>
      <p:pic>
        <p:nvPicPr>
          <p:cNvPr descr="image.png" id="170" name="Google Shape;170;p19"/>
          <p:cNvPicPr preferRelativeResize="0"/>
          <p:nvPr/>
        </p:nvPicPr>
        <p:blipFill rotWithShape="1">
          <a:blip r:embed="rId9">
            <a:alphaModFix/>
          </a:blip>
          <a:srcRect b="0" l="0" r="0" t="0"/>
          <a:stretch/>
        </p:blipFill>
        <p:spPr>
          <a:xfrm>
            <a:off x="9693324" y="2776537"/>
            <a:ext cx="361950" cy="476250"/>
          </a:xfrm>
          <a:prstGeom prst="rect">
            <a:avLst/>
          </a:prstGeom>
          <a:noFill/>
          <a:ln>
            <a:noFill/>
          </a:ln>
        </p:spPr>
      </p:pic>
      <p:sp>
        <p:nvSpPr>
          <p:cNvPr id="171" name="Google Shape;171;p19"/>
          <p:cNvSpPr txBox="1"/>
          <p:nvPr/>
        </p:nvSpPr>
        <p:spPr>
          <a:xfrm>
            <a:off x="809625" y="571500"/>
            <a:ext cx="11351418"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FFFFFF"/>
                </a:solidFill>
                <a:latin typeface="Urbanist"/>
                <a:ea typeface="Urbanist"/>
                <a:cs typeface="Urbanist"/>
                <a:sym typeface="Urbanist"/>
              </a:rPr>
              <a:t>THE MULTIMODAL ARCHITECTURE</a:t>
            </a:r>
            <a:endParaRPr/>
          </a:p>
        </p:txBody>
      </p:sp>
      <p:sp>
        <p:nvSpPr>
          <p:cNvPr id="172" name="Google Shape;172;p19"/>
          <p:cNvSpPr/>
          <p:nvPr/>
        </p:nvSpPr>
        <p:spPr>
          <a:xfrm>
            <a:off x="571500" y="571500"/>
            <a:ext cx="57150" cy="457200"/>
          </a:xfrm>
          <a:prstGeom prst="rect">
            <a:avLst/>
          </a:prstGeom>
          <a:solidFill>
            <a:srgbClr val="A2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E14"/>
        </a:solidFill>
      </p:bgPr>
    </p:bg>
    <p:spTree>
      <p:nvGrpSpPr>
        <p:cNvPr id="176" name="Shape 176"/>
        <p:cNvGrpSpPr/>
        <p:nvPr/>
      </p:nvGrpSpPr>
      <p:grpSpPr>
        <a:xfrm>
          <a:off x="0" y="0"/>
          <a:ext cx="0" cy="0"/>
          <a:chOff x="0" y="0"/>
          <a:chExt cx="0" cy="0"/>
        </a:xfrm>
      </p:grpSpPr>
      <p:pic>
        <p:nvPicPr>
          <p:cNvPr descr="image.png" id="177" name="Google Shape;177;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8" name="Google Shape;178;p20"/>
          <p:cNvSpPr/>
          <p:nvPr/>
        </p:nvSpPr>
        <p:spPr>
          <a:xfrm>
            <a:off x="571500" y="3848100"/>
            <a:ext cx="11049000" cy="19050"/>
          </a:xfrm>
          <a:prstGeom prst="rect">
            <a:avLst/>
          </a:prstGeom>
          <a:solidFill>
            <a:srgbClr val="00F2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9" name="Google Shape;179;p20"/>
          <p:cNvSpPr/>
          <p:nvPr/>
        </p:nvSpPr>
        <p:spPr>
          <a:xfrm>
            <a:off x="1470570" y="3400425"/>
            <a:ext cx="190500" cy="190500"/>
          </a:xfrm>
          <a:prstGeom prst="roundRect">
            <a:avLst>
              <a:gd fmla="val 50000" name="adj"/>
            </a:avLst>
          </a:prstGeom>
          <a:solidFill>
            <a:srgbClr val="A2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0" name="Google Shape;180;p20"/>
          <p:cNvSpPr txBox="1"/>
          <p:nvPr/>
        </p:nvSpPr>
        <p:spPr>
          <a:xfrm>
            <a:off x="521780" y="3781425"/>
            <a:ext cx="2088229"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0F2FF"/>
                </a:solidFill>
                <a:latin typeface="JetBrains Mono"/>
                <a:ea typeface="JetBrains Mono"/>
                <a:cs typeface="JetBrains Mono"/>
                <a:sym typeface="JetBrains Mono"/>
              </a:rPr>
              <a:t>Whisper</a:t>
            </a:r>
            <a:endParaRPr/>
          </a:p>
        </p:txBody>
      </p:sp>
      <p:sp>
        <p:nvSpPr>
          <p:cNvPr id="181" name="Google Shape;181;p20"/>
          <p:cNvSpPr txBox="1"/>
          <p:nvPr/>
        </p:nvSpPr>
        <p:spPr>
          <a:xfrm>
            <a:off x="571500" y="4095750"/>
            <a:ext cx="1988790" cy="20002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BDC3C7"/>
                </a:solidFill>
                <a:latin typeface="Urbanist"/>
                <a:ea typeface="Urbanist"/>
                <a:cs typeface="Urbanist"/>
                <a:sym typeface="Urbanist"/>
              </a:rPr>
              <a:t>High-fidelity Transcription</a:t>
            </a:r>
            <a:endParaRPr/>
          </a:p>
        </p:txBody>
      </p:sp>
      <p:sp>
        <p:nvSpPr>
          <p:cNvPr id="182" name="Google Shape;182;p20"/>
          <p:cNvSpPr/>
          <p:nvPr/>
        </p:nvSpPr>
        <p:spPr>
          <a:xfrm>
            <a:off x="3735585" y="3400425"/>
            <a:ext cx="190500" cy="190500"/>
          </a:xfrm>
          <a:prstGeom prst="roundRect">
            <a:avLst>
              <a:gd fmla="val 50000" name="adj"/>
            </a:avLst>
          </a:prstGeom>
          <a:solidFill>
            <a:srgbClr val="A2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3" name="Google Shape;183;p20"/>
          <p:cNvSpPr txBox="1"/>
          <p:nvPr/>
        </p:nvSpPr>
        <p:spPr>
          <a:xfrm>
            <a:off x="2786795" y="3781425"/>
            <a:ext cx="2088229"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0F2FF"/>
                </a:solidFill>
                <a:latin typeface="JetBrains Mono"/>
                <a:ea typeface="JetBrains Mono"/>
                <a:cs typeface="JetBrains Mono"/>
                <a:sym typeface="JetBrains Mono"/>
              </a:rPr>
              <a:t>BART</a:t>
            </a:r>
            <a:endParaRPr/>
          </a:p>
        </p:txBody>
      </p:sp>
      <p:sp>
        <p:nvSpPr>
          <p:cNvPr id="184" name="Google Shape;184;p20"/>
          <p:cNvSpPr txBox="1"/>
          <p:nvPr/>
        </p:nvSpPr>
        <p:spPr>
          <a:xfrm>
            <a:off x="2836515" y="4095750"/>
            <a:ext cx="1988790" cy="20002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BDC3C7"/>
                </a:solidFill>
                <a:latin typeface="Urbanist"/>
                <a:ea typeface="Urbanist"/>
                <a:cs typeface="Urbanist"/>
                <a:sym typeface="Urbanist"/>
              </a:rPr>
              <a:t>Contextual Summarization</a:t>
            </a:r>
            <a:endParaRPr/>
          </a:p>
        </p:txBody>
      </p:sp>
      <p:sp>
        <p:nvSpPr>
          <p:cNvPr id="185" name="Google Shape;185;p20"/>
          <p:cNvSpPr/>
          <p:nvPr/>
        </p:nvSpPr>
        <p:spPr>
          <a:xfrm>
            <a:off x="6000601" y="3400425"/>
            <a:ext cx="190500" cy="190500"/>
          </a:xfrm>
          <a:prstGeom prst="roundRect">
            <a:avLst>
              <a:gd fmla="val 50000" name="adj"/>
            </a:avLst>
          </a:prstGeom>
          <a:solidFill>
            <a:srgbClr val="A2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6" name="Google Shape;186;p20"/>
          <p:cNvSpPr txBox="1"/>
          <p:nvPr/>
        </p:nvSpPr>
        <p:spPr>
          <a:xfrm>
            <a:off x="5051810" y="3781425"/>
            <a:ext cx="2088229"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0F2FF"/>
                </a:solidFill>
                <a:latin typeface="JetBrains Mono"/>
                <a:ea typeface="JetBrains Mono"/>
                <a:cs typeface="JetBrains Mono"/>
                <a:sym typeface="JetBrains Mono"/>
              </a:rPr>
              <a:t>DistilBERT</a:t>
            </a:r>
            <a:endParaRPr/>
          </a:p>
        </p:txBody>
      </p:sp>
      <p:sp>
        <p:nvSpPr>
          <p:cNvPr id="187" name="Google Shape;187;p20"/>
          <p:cNvSpPr txBox="1"/>
          <p:nvPr/>
        </p:nvSpPr>
        <p:spPr>
          <a:xfrm>
            <a:off x="5101530" y="4095750"/>
            <a:ext cx="1988790" cy="20002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BDC3C7"/>
                </a:solidFill>
                <a:latin typeface="Urbanist"/>
                <a:ea typeface="Urbanist"/>
                <a:cs typeface="Urbanist"/>
                <a:sym typeface="Urbanist"/>
              </a:rPr>
              <a:t>Sentiment Analysis</a:t>
            </a:r>
            <a:endParaRPr/>
          </a:p>
        </p:txBody>
      </p:sp>
      <p:sp>
        <p:nvSpPr>
          <p:cNvPr id="188" name="Google Shape;188;p20"/>
          <p:cNvSpPr/>
          <p:nvPr/>
        </p:nvSpPr>
        <p:spPr>
          <a:xfrm>
            <a:off x="8265616" y="3400425"/>
            <a:ext cx="190500" cy="190500"/>
          </a:xfrm>
          <a:prstGeom prst="roundRect">
            <a:avLst>
              <a:gd fmla="val 50000" name="adj"/>
            </a:avLst>
          </a:prstGeom>
          <a:solidFill>
            <a:srgbClr val="A2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9" name="Google Shape;189;p20"/>
          <p:cNvSpPr txBox="1"/>
          <p:nvPr/>
        </p:nvSpPr>
        <p:spPr>
          <a:xfrm>
            <a:off x="7316825" y="3781425"/>
            <a:ext cx="2088229"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0F2FF"/>
                </a:solidFill>
                <a:latin typeface="JetBrains Mono"/>
                <a:ea typeface="JetBrains Mono"/>
                <a:cs typeface="JetBrains Mono"/>
                <a:sym typeface="JetBrains Mono"/>
              </a:rPr>
              <a:t>MarianMT</a:t>
            </a:r>
            <a:endParaRPr/>
          </a:p>
        </p:txBody>
      </p:sp>
      <p:sp>
        <p:nvSpPr>
          <p:cNvPr id="190" name="Google Shape;190;p20"/>
          <p:cNvSpPr txBox="1"/>
          <p:nvPr/>
        </p:nvSpPr>
        <p:spPr>
          <a:xfrm>
            <a:off x="7366545" y="4095750"/>
            <a:ext cx="1988790" cy="20002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BDC3C7"/>
                </a:solidFill>
                <a:latin typeface="Urbanist"/>
                <a:ea typeface="Urbanist"/>
                <a:cs typeface="Urbanist"/>
                <a:sym typeface="Urbanist"/>
              </a:rPr>
              <a:t>Multilingual Translation</a:t>
            </a:r>
            <a:endParaRPr/>
          </a:p>
        </p:txBody>
      </p:sp>
      <p:sp>
        <p:nvSpPr>
          <p:cNvPr id="191" name="Google Shape;191;p20"/>
          <p:cNvSpPr/>
          <p:nvPr/>
        </p:nvSpPr>
        <p:spPr>
          <a:xfrm>
            <a:off x="10530631" y="3400425"/>
            <a:ext cx="190500" cy="190500"/>
          </a:xfrm>
          <a:prstGeom prst="roundRect">
            <a:avLst>
              <a:gd fmla="val 50000" name="adj"/>
            </a:avLst>
          </a:prstGeom>
          <a:solidFill>
            <a:srgbClr val="A2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20"/>
          <p:cNvSpPr txBox="1"/>
          <p:nvPr/>
        </p:nvSpPr>
        <p:spPr>
          <a:xfrm>
            <a:off x="9581841" y="3781425"/>
            <a:ext cx="2088229" cy="21907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350" u="none" cap="none" strike="noStrike">
                <a:solidFill>
                  <a:srgbClr val="00F2FF"/>
                </a:solidFill>
                <a:latin typeface="JetBrains Mono"/>
                <a:ea typeface="JetBrains Mono"/>
                <a:cs typeface="JetBrains Mono"/>
                <a:sym typeface="JetBrains Mono"/>
              </a:rPr>
              <a:t>SpeechT5</a:t>
            </a:r>
            <a:endParaRPr/>
          </a:p>
        </p:txBody>
      </p:sp>
      <p:sp>
        <p:nvSpPr>
          <p:cNvPr id="193" name="Google Shape;193;p20"/>
          <p:cNvSpPr txBox="1"/>
          <p:nvPr/>
        </p:nvSpPr>
        <p:spPr>
          <a:xfrm>
            <a:off x="9631560" y="4095750"/>
            <a:ext cx="1988790" cy="20002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050" u="none" cap="none" strike="noStrike">
                <a:solidFill>
                  <a:srgbClr val="BDC3C7"/>
                </a:solidFill>
                <a:latin typeface="Urbanist"/>
                <a:ea typeface="Urbanist"/>
                <a:cs typeface="Urbanist"/>
                <a:sym typeface="Urbanist"/>
              </a:rPr>
              <a:t>Audio Synthesis</a:t>
            </a:r>
            <a:endParaRPr/>
          </a:p>
        </p:txBody>
      </p:sp>
      <p:sp>
        <p:nvSpPr>
          <p:cNvPr id="194" name="Google Shape;194;p20"/>
          <p:cNvSpPr txBox="1"/>
          <p:nvPr/>
        </p:nvSpPr>
        <p:spPr>
          <a:xfrm>
            <a:off x="809625" y="571500"/>
            <a:ext cx="11351418"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FFFFFF"/>
                </a:solidFill>
                <a:latin typeface="Urbanist"/>
                <a:ea typeface="Urbanist"/>
                <a:cs typeface="Urbanist"/>
                <a:sym typeface="Urbanist"/>
              </a:rPr>
              <a:t>THE EXECUTION PIPELINE</a:t>
            </a:r>
            <a:endParaRPr/>
          </a:p>
        </p:txBody>
      </p:sp>
      <p:sp>
        <p:nvSpPr>
          <p:cNvPr id="195" name="Google Shape;195;p20"/>
          <p:cNvSpPr/>
          <p:nvPr/>
        </p:nvSpPr>
        <p:spPr>
          <a:xfrm>
            <a:off x="571500" y="571500"/>
            <a:ext cx="57150" cy="457200"/>
          </a:xfrm>
          <a:prstGeom prst="rect">
            <a:avLst/>
          </a:prstGeom>
          <a:solidFill>
            <a:srgbClr val="A2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E14"/>
        </a:solidFill>
      </p:bgPr>
    </p:bg>
    <p:spTree>
      <p:nvGrpSpPr>
        <p:cNvPr id="199" name="Shape 199"/>
        <p:cNvGrpSpPr/>
        <p:nvPr/>
      </p:nvGrpSpPr>
      <p:grpSpPr>
        <a:xfrm>
          <a:off x="0" y="0"/>
          <a:ext cx="0" cy="0"/>
          <a:chOff x="0" y="0"/>
          <a:chExt cx="0" cy="0"/>
        </a:xfrm>
      </p:grpSpPr>
      <p:pic>
        <p:nvPicPr>
          <p:cNvPr descr="image.png" id="200" name="Google Shape;200;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1" name="Google Shape;201;p21"/>
          <p:cNvPicPr preferRelativeResize="0"/>
          <p:nvPr/>
        </p:nvPicPr>
        <p:blipFill rotWithShape="1">
          <a:blip r:embed="rId4">
            <a:alphaModFix/>
          </a:blip>
          <a:srcRect b="0" l="0" r="0" t="0"/>
          <a:stretch/>
        </p:blipFill>
        <p:spPr>
          <a:xfrm>
            <a:off x="571500" y="5029200"/>
            <a:ext cx="5334000" cy="1628775"/>
          </a:xfrm>
          <a:prstGeom prst="rect">
            <a:avLst/>
          </a:prstGeom>
          <a:noFill/>
          <a:ln>
            <a:noFill/>
          </a:ln>
        </p:spPr>
      </p:pic>
      <p:pic>
        <p:nvPicPr>
          <p:cNvPr descr="image.png" id="202" name="Google Shape;202;p21"/>
          <p:cNvPicPr preferRelativeResize="0"/>
          <p:nvPr/>
        </p:nvPicPr>
        <p:blipFill rotWithShape="1">
          <a:blip r:embed="rId5">
            <a:alphaModFix/>
          </a:blip>
          <a:srcRect b="0" l="0" r="0" t="0"/>
          <a:stretch/>
        </p:blipFill>
        <p:spPr>
          <a:xfrm>
            <a:off x="6286500" y="5029200"/>
            <a:ext cx="5334000" cy="1628775"/>
          </a:xfrm>
          <a:prstGeom prst="rect">
            <a:avLst/>
          </a:prstGeom>
          <a:noFill/>
          <a:ln>
            <a:noFill/>
          </a:ln>
        </p:spPr>
      </p:pic>
      <p:pic>
        <p:nvPicPr>
          <p:cNvPr descr="image.png" id="203" name="Google Shape;203;p21"/>
          <p:cNvPicPr preferRelativeResize="0"/>
          <p:nvPr/>
        </p:nvPicPr>
        <p:blipFill rotWithShape="1">
          <a:blip r:embed="rId6">
            <a:alphaModFix/>
          </a:blip>
          <a:srcRect b="0" l="0" r="0" t="0"/>
          <a:stretch/>
        </p:blipFill>
        <p:spPr>
          <a:xfrm>
            <a:off x="571500" y="1409700"/>
            <a:ext cx="11049000" cy="5248275"/>
          </a:xfrm>
          <a:prstGeom prst="rect">
            <a:avLst/>
          </a:prstGeom>
          <a:noFill/>
          <a:ln>
            <a:noFill/>
          </a:ln>
        </p:spPr>
      </p:pic>
      <p:sp>
        <p:nvSpPr>
          <p:cNvPr id="204" name="Google Shape;204;p21"/>
          <p:cNvSpPr txBox="1"/>
          <p:nvPr/>
        </p:nvSpPr>
        <p:spPr>
          <a:xfrm>
            <a:off x="914400" y="5372100"/>
            <a:ext cx="4648200" cy="6286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BDC3C7"/>
                </a:solidFill>
                <a:latin typeface="Urbanist"/>
                <a:ea typeface="Urbanist"/>
                <a:cs typeface="Urbanist"/>
                <a:sym typeface="Urbanist"/>
              </a:rPr>
              <a:t>Adding a </a:t>
            </a:r>
            <a:r>
              <a:rPr b="1" i="0" lang="en-US" sz="1650" u="none" cap="none" strike="noStrike">
                <a:solidFill>
                  <a:srgbClr val="00F2FF"/>
                </a:solidFill>
                <a:latin typeface="Urbanist"/>
                <a:ea typeface="Urbanist"/>
                <a:cs typeface="Urbanist"/>
                <a:sym typeface="Urbanist"/>
              </a:rPr>
              <a:t>domain-aware initial prompt</a:t>
            </a:r>
            <a:r>
              <a:rPr b="0" i="0" lang="en-US" sz="1650" u="none" cap="none" strike="noStrike">
                <a:solidFill>
                  <a:srgbClr val="BDC3C7"/>
                </a:solidFill>
                <a:latin typeface="Urbanist"/>
                <a:ea typeface="Urbanist"/>
                <a:cs typeface="Urbanist"/>
                <a:sym typeface="Urbanist"/>
              </a:rPr>
              <a:t> to Whisper reduced transcription errors by a massive </a:t>
            </a:r>
            <a:r>
              <a:rPr b="1" i="0" lang="en-US" sz="1650" u="none" cap="none" strike="noStrike">
                <a:solidFill>
                  <a:srgbClr val="00F2FF"/>
                </a:solidFill>
                <a:latin typeface="Urbanist"/>
                <a:ea typeface="Urbanist"/>
                <a:cs typeface="Urbanist"/>
                <a:sym typeface="Urbanist"/>
              </a:rPr>
              <a:t>61%</a:t>
            </a:r>
            <a:r>
              <a:rPr b="0" i="0" lang="en-US" sz="1650" u="none" cap="none" strike="noStrike">
                <a:solidFill>
                  <a:srgbClr val="BDC3C7"/>
                </a:solidFill>
                <a:latin typeface="Urbanist"/>
                <a:ea typeface="Urbanist"/>
                <a:cs typeface="Urbanist"/>
                <a:sym typeface="Urbanist"/>
              </a:rPr>
              <a:t>.</a:t>
            </a:r>
            <a:endParaRPr/>
          </a:p>
        </p:txBody>
      </p:sp>
      <p:sp>
        <p:nvSpPr>
          <p:cNvPr id="205" name="Google Shape;205;p21"/>
          <p:cNvSpPr txBox="1"/>
          <p:nvPr/>
        </p:nvSpPr>
        <p:spPr>
          <a:xfrm>
            <a:off x="6629400" y="5372100"/>
            <a:ext cx="4648200" cy="942975"/>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BDC3C7"/>
                </a:solidFill>
                <a:latin typeface="Urbanist"/>
                <a:ea typeface="Urbanist"/>
                <a:cs typeface="Urbanist"/>
                <a:sym typeface="Urbanist"/>
              </a:rPr>
              <a:t>Strategic prompting achieved this reduction </a:t>
            </a:r>
            <a:r>
              <a:rPr b="1" i="0" lang="en-US" sz="1650" u="none" cap="none" strike="noStrike">
                <a:solidFill>
                  <a:srgbClr val="00F2FF"/>
                </a:solidFill>
                <a:latin typeface="Urbanist"/>
                <a:ea typeface="Urbanist"/>
                <a:cs typeface="Urbanist"/>
                <a:sym typeface="Urbanist"/>
              </a:rPr>
              <a:t>without retraining</a:t>
            </a:r>
            <a:r>
              <a:rPr b="0" i="0" lang="en-US" sz="1650" u="none" cap="none" strike="noStrike">
                <a:solidFill>
                  <a:srgbClr val="BDC3C7"/>
                </a:solidFill>
                <a:latin typeface="Urbanist"/>
                <a:ea typeface="Urbanist"/>
                <a:cs typeface="Urbanist"/>
                <a:sym typeface="Urbanist"/>
              </a:rPr>
              <a:t> the model or increasing compute latency.</a:t>
            </a:r>
            <a:endParaRPr/>
          </a:p>
        </p:txBody>
      </p:sp>
      <p:sp>
        <p:nvSpPr>
          <p:cNvPr id="206" name="Google Shape;206;p21"/>
          <p:cNvSpPr txBox="1"/>
          <p:nvPr/>
        </p:nvSpPr>
        <p:spPr>
          <a:xfrm>
            <a:off x="809625" y="571500"/>
            <a:ext cx="11351418"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FFFFFF"/>
                </a:solidFill>
                <a:latin typeface="Urbanist"/>
                <a:ea typeface="Urbanist"/>
                <a:cs typeface="Urbanist"/>
                <a:sym typeface="Urbanist"/>
              </a:rPr>
              <a:t>OPTIMIZING WORD ERROR RATE (WER)</a:t>
            </a:r>
            <a:endParaRPr/>
          </a:p>
        </p:txBody>
      </p:sp>
      <p:sp>
        <p:nvSpPr>
          <p:cNvPr id="207" name="Google Shape;207;p21"/>
          <p:cNvSpPr/>
          <p:nvPr/>
        </p:nvSpPr>
        <p:spPr>
          <a:xfrm>
            <a:off x="571500" y="571500"/>
            <a:ext cx="57150" cy="457200"/>
          </a:xfrm>
          <a:prstGeom prst="rect">
            <a:avLst/>
          </a:prstGeom>
          <a:solidFill>
            <a:srgbClr val="A2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E14"/>
        </a:solidFill>
      </p:bgPr>
    </p:bg>
    <p:spTree>
      <p:nvGrpSpPr>
        <p:cNvPr id="211" name="Shape 211"/>
        <p:cNvGrpSpPr/>
        <p:nvPr/>
      </p:nvGrpSpPr>
      <p:grpSpPr>
        <a:xfrm>
          <a:off x="0" y="0"/>
          <a:ext cx="0" cy="0"/>
          <a:chOff x="0" y="0"/>
          <a:chExt cx="0" cy="0"/>
        </a:xfrm>
      </p:grpSpPr>
      <p:pic>
        <p:nvPicPr>
          <p:cNvPr descr="image.png" id="212" name="Google Shape;212;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13" name="Google Shape;213;p22"/>
          <p:cNvPicPr preferRelativeResize="0"/>
          <p:nvPr/>
        </p:nvPicPr>
        <p:blipFill rotWithShape="1">
          <a:blip r:embed="rId4">
            <a:alphaModFix/>
          </a:blip>
          <a:srcRect b="0" l="0" r="0" t="0"/>
          <a:stretch/>
        </p:blipFill>
        <p:spPr>
          <a:xfrm>
            <a:off x="6286500" y="1943100"/>
            <a:ext cx="5334000" cy="3810000"/>
          </a:xfrm>
          <a:prstGeom prst="rect">
            <a:avLst/>
          </a:prstGeom>
          <a:noFill/>
          <a:ln>
            <a:noFill/>
          </a:ln>
        </p:spPr>
      </p:pic>
      <p:sp>
        <p:nvSpPr>
          <p:cNvPr id="214" name="Google Shape;214;p22"/>
          <p:cNvSpPr txBox="1"/>
          <p:nvPr/>
        </p:nvSpPr>
        <p:spPr>
          <a:xfrm>
            <a:off x="571500" y="1943100"/>
            <a:ext cx="5334000" cy="6286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BDC3C7"/>
                </a:solidFill>
                <a:latin typeface="Urbanist"/>
                <a:ea typeface="Urbanist"/>
                <a:cs typeface="Urbanist"/>
                <a:sym typeface="Urbanist"/>
              </a:rPr>
              <a:t>The pipeline successfully closed the </a:t>
            </a:r>
            <a:r>
              <a:rPr b="1" i="0" lang="en-US" sz="1650" u="none" cap="none" strike="noStrike">
                <a:solidFill>
                  <a:srgbClr val="00F2FF"/>
                </a:solidFill>
                <a:latin typeface="Urbanist"/>
                <a:ea typeface="Urbanist"/>
                <a:cs typeface="Urbanist"/>
                <a:sym typeface="Urbanist"/>
              </a:rPr>
              <a:t>multimodal loop</a:t>
            </a:r>
            <a:r>
              <a:rPr b="0" i="0" lang="en-US" sz="1650" u="none" cap="none" strike="noStrike">
                <a:solidFill>
                  <a:srgbClr val="BDC3C7"/>
                </a:solidFill>
                <a:latin typeface="Urbanist"/>
                <a:ea typeface="Urbanist"/>
                <a:cs typeface="Urbanist"/>
                <a:sym typeface="Urbanist"/>
              </a:rPr>
              <a:t> by synthesizing insights back into high-quality speech.</a:t>
            </a:r>
            <a:endParaRPr/>
          </a:p>
        </p:txBody>
      </p:sp>
      <p:sp>
        <p:nvSpPr>
          <p:cNvPr id="215" name="Google Shape;215;p22"/>
          <p:cNvSpPr txBox="1"/>
          <p:nvPr/>
        </p:nvSpPr>
        <p:spPr>
          <a:xfrm>
            <a:off x="571500" y="2857500"/>
            <a:ext cx="5334000" cy="314325"/>
          </a:xfrm>
          <a:prstGeom prst="rect">
            <a:avLst/>
          </a:prstGeom>
          <a:noFill/>
          <a:ln>
            <a:noFill/>
          </a:ln>
        </p:spPr>
        <p:txBody>
          <a:bodyPr anchorCtr="0" anchor="t" bIns="0" lIns="32385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BDC3C7"/>
                </a:solidFill>
                <a:latin typeface="Urbanist"/>
                <a:ea typeface="Urbanist"/>
                <a:cs typeface="Urbanist"/>
                <a:sym typeface="Urbanist"/>
              </a:rPr>
              <a:t>Actionable JSON output</a:t>
            </a:r>
            <a:endParaRPr/>
          </a:p>
        </p:txBody>
      </p:sp>
      <p:sp>
        <p:nvSpPr>
          <p:cNvPr id="216" name="Google Shape;216;p22"/>
          <p:cNvSpPr txBox="1"/>
          <p:nvPr/>
        </p:nvSpPr>
        <p:spPr>
          <a:xfrm>
            <a:off x="571500" y="3314700"/>
            <a:ext cx="5334000" cy="314325"/>
          </a:xfrm>
          <a:prstGeom prst="rect">
            <a:avLst/>
          </a:prstGeom>
          <a:noFill/>
          <a:ln>
            <a:noFill/>
          </a:ln>
        </p:spPr>
        <p:txBody>
          <a:bodyPr anchorCtr="0" anchor="t" bIns="0" lIns="32385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BDC3C7"/>
                </a:solidFill>
                <a:latin typeface="Urbanist"/>
                <a:ea typeface="Urbanist"/>
                <a:cs typeface="Urbanist"/>
                <a:sym typeface="Urbanist"/>
              </a:rPr>
              <a:t>Regex-parsed action items</a:t>
            </a:r>
            <a:endParaRPr/>
          </a:p>
        </p:txBody>
      </p:sp>
      <p:sp>
        <p:nvSpPr>
          <p:cNvPr id="217" name="Google Shape;217;p22"/>
          <p:cNvSpPr txBox="1"/>
          <p:nvPr/>
        </p:nvSpPr>
        <p:spPr>
          <a:xfrm>
            <a:off x="571500" y="3771900"/>
            <a:ext cx="5334000" cy="314325"/>
          </a:xfrm>
          <a:prstGeom prst="rect">
            <a:avLst/>
          </a:prstGeom>
          <a:noFill/>
          <a:ln>
            <a:noFill/>
          </a:ln>
        </p:spPr>
        <p:txBody>
          <a:bodyPr anchorCtr="0" anchor="t" bIns="0" lIns="323850" spcFirstLastPara="1" rIns="0" wrap="square" tIns="0">
            <a:spAutoFit/>
          </a:bodyPr>
          <a:lstStyle/>
          <a:p>
            <a:pPr indent="0" lvl="0" marL="0" marR="0" rtl="0" algn="l">
              <a:lnSpc>
                <a:spcPct val="150000"/>
              </a:lnSpc>
              <a:spcBef>
                <a:spcPts val="0"/>
              </a:spcBef>
              <a:spcAft>
                <a:spcPts val="0"/>
              </a:spcAft>
              <a:buNone/>
            </a:pPr>
            <a:r>
              <a:rPr b="0" i="0" lang="en-US" sz="1650" u="none" cap="none" strike="noStrike">
                <a:solidFill>
                  <a:srgbClr val="BDC3C7"/>
                </a:solidFill>
                <a:latin typeface="Urbanist"/>
                <a:ea typeface="Urbanist"/>
                <a:cs typeface="Urbanist"/>
                <a:sym typeface="Urbanist"/>
              </a:rPr>
              <a:t>Spanish Translation synthesis</a:t>
            </a:r>
            <a:endParaRPr/>
          </a:p>
        </p:txBody>
      </p:sp>
      <p:pic>
        <p:nvPicPr>
          <p:cNvPr descr="image.png" id="218" name="Google Shape;218;p22"/>
          <p:cNvPicPr preferRelativeResize="0"/>
          <p:nvPr/>
        </p:nvPicPr>
        <p:blipFill rotWithShape="1">
          <a:blip r:embed="rId5">
            <a:alphaModFix/>
          </a:blip>
          <a:srcRect b="0" l="0" r="0" t="0"/>
          <a:stretch/>
        </p:blipFill>
        <p:spPr>
          <a:xfrm>
            <a:off x="6296025" y="1952625"/>
            <a:ext cx="5314950" cy="3790950"/>
          </a:xfrm>
          <a:prstGeom prst="rect">
            <a:avLst/>
          </a:prstGeom>
          <a:noFill/>
          <a:ln>
            <a:noFill/>
          </a:ln>
        </p:spPr>
      </p:pic>
      <p:pic>
        <p:nvPicPr>
          <p:cNvPr descr="image.png" id="219" name="Google Shape;219;p22"/>
          <p:cNvPicPr preferRelativeResize="0"/>
          <p:nvPr/>
        </p:nvPicPr>
        <p:blipFill rotWithShape="1">
          <a:blip r:embed="rId6">
            <a:alphaModFix/>
          </a:blip>
          <a:srcRect b="0" l="0" r="0" t="0"/>
          <a:stretch/>
        </p:blipFill>
        <p:spPr>
          <a:xfrm>
            <a:off x="571500" y="2900362"/>
            <a:ext cx="180975" cy="219075"/>
          </a:xfrm>
          <a:prstGeom prst="rect">
            <a:avLst/>
          </a:prstGeom>
          <a:noFill/>
          <a:ln>
            <a:noFill/>
          </a:ln>
        </p:spPr>
      </p:pic>
      <p:pic>
        <p:nvPicPr>
          <p:cNvPr descr="image.png" id="220" name="Google Shape;220;p22"/>
          <p:cNvPicPr preferRelativeResize="0"/>
          <p:nvPr/>
        </p:nvPicPr>
        <p:blipFill rotWithShape="1">
          <a:blip r:embed="rId6">
            <a:alphaModFix/>
          </a:blip>
          <a:srcRect b="0" l="0" r="0" t="0"/>
          <a:stretch/>
        </p:blipFill>
        <p:spPr>
          <a:xfrm>
            <a:off x="571500" y="3357562"/>
            <a:ext cx="180975" cy="219075"/>
          </a:xfrm>
          <a:prstGeom prst="rect">
            <a:avLst/>
          </a:prstGeom>
          <a:noFill/>
          <a:ln>
            <a:noFill/>
          </a:ln>
        </p:spPr>
      </p:pic>
      <p:pic>
        <p:nvPicPr>
          <p:cNvPr descr="image.png" id="221" name="Google Shape;221;p22"/>
          <p:cNvPicPr preferRelativeResize="0"/>
          <p:nvPr/>
        </p:nvPicPr>
        <p:blipFill rotWithShape="1">
          <a:blip r:embed="rId6">
            <a:alphaModFix/>
          </a:blip>
          <a:srcRect b="0" l="0" r="0" t="0"/>
          <a:stretch/>
        </p:blipFill>
        <p:spPr>
          <a:xfrm>
            <a:off x="571500" y="3814762"/>
            <a:ext cx="180975" cy="219075"/>
          </a:xfrm>
          <a:prstGeom prst="rect">
            <a:avLst/>
          </a:prstGeom>
          <a:noFill/>
          <a:ln>
            <a:noFill/>
          </a:ln>
        </p:spPr>
      </p:pic>
      <p:sp>
        <p:nvSpPr>
          <p:cNvPr id="222" name="Google Shape;222;p22"/>
          <p:cNvSpPr txBox="1"/>
          <p:nvPr/>
        </p:nvSpPr>
        <p:spPr>
          <a:xfrm>
            <a:off x="809625" y="571500"/>
            <a:ext cx="11351418"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FFFFFF"/>
                </a:solidFill>
                <a:latin typeface="Urbanist"/>
                <a:ea typeface="Urbanist"/>
                <a:cs typeface="Urbanist"/>
                <a:sym typeface="Urbanist"/>
              </a:rPr>
              <a:t>EXTRA CREDIT: MULTIMODAL LOOP</a:t>
            </a:r>
            <a:endParaRPr/>
          </a:p>
        </p:txBody>
      </p:sp>
      <p:sp>
        <p:nvSpPr>
          <p:cNvPr id="223" name="Google Shape;223;p22"/>
          <p:cNvSpPr/>
          <p:nvPr/>
        </p:nvSpPr>
        <p:spPr>
          <a:xfrm>
            <a:off x="571500" y="571500"/>
            <a:ext cx="57150" cy="457200"/>
          </a:xfrm>
          <a:prstGeom prst="rect">
            <a:avLst/>
          </a:prstGeom>
          <a:solidFill>
            <a:srgbClr val="A2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0E14"/>
        </a:solidFill>
      </p:bgPr>
    </p:bg>
    <p:spTree>
      <p:nvGrpSpPr>
        <p:cNvPr id="227" name="Shape 227"/>
        <p:cNvGrpSpPr/>
        <p:nvPr/>
      </p:nvGrpSpPr>
      <p:grpSpPr>
        <a:xfrm>
          <a:off x="0" y="0"/>
          <a:ext cx="0" cy="0"/>
          <a:chOff x="0" y="0"/>
          <a:chExt cx="0" cy="0"/>
        </a:xfrm>
      </p:grpSpPr>
      <p:pic>
        <p:nvPicPr>
          <p:cNvPr descr="image.png" id="228" name="Google Shape;228;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9" name="Google Shape;229;p23"/>
          <p:cNvSpPr txBox="1"/>
          <p:nvPr/>
        </p:nvSpPr>
        <p:spPr>
          <a:xfrm>
            <a:off x="1000125" y="2547937"/>
            <a:ext cx="10620375" cy="6286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650" u="none" cap="none" strike="noStrike">
                <a:solidFill>
                  <a:srgbClr val="00F2FF"/>
                </a:solidFill>
                <a:latin typeface="Urbanist"/>
                <a:ea typeface="Urbanist"/>
                <a:cs typeface="Urbanist"/>
                <a:sym typeface="Urbanist"/>
              </a:rPr>
              <a:t>Strategic Prompting is Paramount:</a:t>
            </a:r>
            <a:r>
              <a:rPr b="0" i="0" lang="en-US" sz="1650" u="none" cap="none" strike="noStrike">
                <a:solidFill>
                  <a:srgbClr val="BDC3C7"/>
                </a:solidFill>
                <a:latin typeface="Urbanist"/>
                <a:ea typeface="Urbanist"/>
                <a:cs typeface="Urbanist"/>
                <a:sym typeface="Urbanist"/>
              </a:rPr>
              <a:t> Whether in Vision (SDXL) or Audio (Whisper), structured prompts are the primary driver of reliability.</a:t>
            </a:r>
            <a:endParaRPr/>
          </a:p>
        </p:txBody>
      </p:sp>
      <p:sp>
        <p:nvSpPr>
          <p:cNvPr id="230" name="Google Shape;230;p23"/>
          <p:cNvSpPr txBox="1"/>
          <p:nvPr/>
        </p:nvSpPr>
        <p:spPr>
          <a:xfrm>
            <a:off x="1000125" y="3414712"/>
            <a:ext cx="10620375" cy="6286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650" u="none" cap="none" strike="noStrike">
                <a:solidFill>
                  <a:srgbClr val="00F2FF"/>
                </a:solidFill>
                <a:latin typeface="Urbanist"/>
                <a:ea typeface="Urbanist"/>
                <a:cs typeface="Urbanist"/>
                <a:sym typeface="Urbanist"/>
              </a:rPr>
              <a:t>The Power of Orchestration:</a:t>
            </a:r>
            <a:r>
              <a:rPr b="0" i="0" lang="en-US" sz="1650" u="none" cap="none" strike="noStrike">
                <a:solidFill>
                  <a:srgbClr val="BDC3C7"/>
                </a:solidFill>
                <a:latin typeface="Urbanist"/>
                <a:ea typeface="Urbanist"/>
                <a:cs typeface="Urbanist"/>
                <a:sym typeface="Urbanist"/>
              </a:rPr>
              <a:t> Chaining modular components enables end-to-end autonomous processing for complex human-centric tasks.</a:t>
            </a:r>
            <a:endParaRPr/>
          </a:p>
        </p:txBody>
      </p:sp>
      <p:sp>
        <p:nvSpPr>
          <p:cNvPr id="231" name="Google Shape;231;p23"/>
          <p:cNvSpPr txBox="1"/>
          <p:nvPr/>
        </p:nvSpPr>
        <p:spPr>
          <a:xfrm>
            <a:off x="1000125" y="4281487"/>
            <a:ext cx="10620375" cy="62865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1650" u="none" cap="none" strike="noStrike">
                <a:solidFill>
                  <a:srgbClr val="00F2FF"/>
                </a:solidFill>
                <a:latin typeface="Urbanist"/>
                <a:ea typeface="Urbanist"/>
                <a:cs typeface="Urbanist"/>
                <a:sym typeface="Urbanist"/>
              </a:rPr>
              <a:t>Data-Driven Reproducibility:</a:t>
            </a:r>
            <a:r>
              <a:rPr b="0" i="0" lang="en-US" sz="1650" u="none" cap="none" strike="noStrike">
                <a:solidFill>
                  <a:srgbClr val="BDC3C7"/>
                </a:solidFill>
                <a:latin typeface="Urbanist"/>
                <a:ea typeface="Urbanist"/>
                <a:cs typeface="Urbanist"/>
                <a:sym typeface="Urbanist"/>
              </a:rPr>
              <a:t> Success was validated through deterministic seeds and rigorous metrics (SSIM, CLIP, and WER).</a:t>
            </a:r>
            <a:endParaRPr/>
          </a:p>
        </p:txBody>
      </p:sp>
      <p:sp>
        <p:nvSpPr>
          <p:cNvPr id="232" name="Google Shape;232;p23"/>
          <p:cNvSpPr txBox="1"/>
          <p:nvPr/>
        </p:nvSpPr>
        <p:spPr>
          <a:xfrm>
            <a:off x="809625" y="571500"/>
            <a:ext cx="11351418"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FFFFFF"/>
                </a:solidFill>
                <a:latin typeface="Urbanist"/>
                <a:ea typeface="Urbanist"/>
                <a:cs typeface="Urbanist"/>
                <a:sym typeface="Urbanist"/>
              </a:rPr>
              <a:t>STRATEGIC TAKEAWAYS</a:t>
            </a:r>
            <a:endParaRPr/>
          </a:p>
        </p:txBody>
      </p:sp>
      <p:sp>
        <p:nvSpPr>
          <p:cNvPr id="233" name="Google Shape;233;p23"/>
          <p:cNvSpPr/>
          <p:nvPr/>
        </p:nvSpPr>
        <p:spPr>
          <a:xfrm>
            <a:off x="571500" y="571500"/>
            <a:ext cx="57150" cy="457200"/>
          </a:xfrm>
          <a:prstGeom prst="rect">
            <a:avLst/>
          </a:prstGeom>
          <a:solidFill>
            <a:srgbClr val="A2FF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34" name="Google Shape;234;p23"/>
          <p:cNvPicPr preferRelativeResize="0"/>
          <p:nvPr/>
        </p:nvPicPr>
        <p:blipFill rotWithShape="1">
          <a:blip r:embed="rId4">
            <a:alphaModFix/>
          </a:blip>
          <a:srcRect b="0" l="0" r="0" t="0"/>
          <a:stretch/>
        </p:blipFill>
        <p:spPr>
          <a:xfrm>
            <a:off x="571500" y="2547937"/>
            <a:ext cx="266700" cy="276225"/>
          </a:xfrm>
          <a:prstGeom prst="rect">
            <a:avLst/>
          </a:prstGeom>
          <a:noFill/>
          <a:ln>
            <a:noFill/>
          </a:ln>
        </p:spPr>
      </p:pic>
      <p:pic>
        <p:nvPicPr>
          <p:cNvPr descr="image.png" id="235" name="Google Shape;235;p23"/>
          <p:cNvPicPr preferRelativeResize="0"/>
          <p:nvPr/>
        </p:nvPicPr>
        <p:blipFill rotWithShape="1">
          <a:blip r:embed="rId4">
            <a:alphaModFix/>
          </a:blip>
          <a:srcRect b="0" l="0" r="0" t="0"/>
          <a:stretch/>
        </p:blipFill>
        <p:spPr>
          <a:xfrm>
            <a:off x="571500" y="3414712"/>
            <a:ext cx="266700" cy="276225"/>
          </a:xfrm>
          <a:prstGeom prst="rect">
            <a:avLst/>
          </a:prstGeom>
          <a:noFill/>
          <a:ln>
            <a:noFill/>
          </a:ln>
        </p:spPr>
      </p:pic>
      <p:pic>
        <p:nvPicPr>
          <p:cNvPr descr="image.png" id="236" name="Google Shape;236;p23"/>
          <p:cNvPicPr preferRelativeResize="0"/>
          <p:nvPr/>
        </p:nvPicPr>
        <p:blipFill rotWithShape="1">
          <a:blip r:embed="rId4">
            <a:alphaModFix/>
          </a:blip>
          <a:srcRect b="0" l="0" r="0" t="0"/>
          <a:stretch/>
        </p:blipFill>
        <p:spPr>
          <a:xfrm>
            <a:off x="571500" y="4281487"/>
            <a:ext cx="266700" cy="276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pic>
        <p:nvPicPr>
          <p:cNvPr descr="image.png" id="241" name="Google Shape;241;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2" name="Google Shape;242;p24"/>
          <p:cNvSpPr txBox="1"/>
          <p:nvPr/>
        </p:nvSpPr>
        <p:spPr>
          <a:xfrm>
            <a:off x="295275" y="571500"/>
            <a:ext cx="11601450" cy="75426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5400" u="none" cap="none" strike="noStrike">
                <a:solidFill>
                  <a:srgbClr val="A2FF00"/>
                </a:solidFill>
                <a:latin typeface="Urbanist"/>
                <a:ea typeface="Urbanist"/>
                <a:cs typeface="Urbanist"/>
                <a:sym typeface="Urbanist"/>
              </a:rPr>
              <a:t>Thank You!</a:t>
            </a:r>
            <a:endParaRPr/>
          </a:p>
        </p:txBody>
      </p:sp>
      <p:sp>
        <p:nvSpPr>
          <p:cNvPr id="243" name="Google Shape;243;p24"/>
          <p:cNvSpPr txBox="1"/>
          <p:nvPr/>
        </p:nvSpPr>
        <p:spPr>
          <a:xfrm>
            <a:off x="571500" y="1611510"/>
            <a:ext cx="11049000" cy="40005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2100" u="none" cap="none" strike="noStrike">
                <a:solidFill>
                  <a:srgbClr val="00F2FF"/>
                </a:solidFill>
                <a:latin typeface="JetBrains Mono"/>
                <a:ea typeface="JetBrains Mono"/>
                <a:cs typeface="JetBrains Mono"/>
                <a:sym typeface="JetBrains Mono"/>
              </a:rPr>
              <a:t>Any Questions?</a:t>
            </a:r>
            <a:endParaRPr/>
          </a:p>
        </p:txBody>
      </p:sp>
      <p:sp>
        <p:nvSpPr>
          <p:cNvPr id="244" name="Google Shape;244;p24"/>
          <p:cNvSpPr txBox="1"/>
          <p:nvPr/>
        </p:nvSpPr>
        <p:spPr>
          <a:xfrm>
            <a:off x="571500" y="2498285"/>
            <a:ext cx="11049000" cy="25410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None/>
            </a:pPr>
            <a:r>
              <a:rPr b="0" i="0" lang="en-US" sz="1650" u="none" cap="none" strike="noStrike">
                <a:solidFill>
                  <a:srgbClr val="FFFFFF"/>
                </a:solidFill>
                <a:latin typeface="Urbanist"/>
                <a:ea typeface="Urbanist"/>
                <a:cs typeface="Urbanist"/>
                <a:sym typeface="Urbanist"/>
              </a:rPr>
              <a:t>Tina Nguyen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